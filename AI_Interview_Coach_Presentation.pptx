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190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b="1" sz="2800">
                <a:solidFill>
                  <a:srgbClr val="B41E1E"/>
                </a:solidFill>
              </a:defRPr>
            </a:pPr>
            <a:r>
              <a:t>SATHYABAMA</a:t>
            </a:r>
          </a:p>
          <a:p>
            <a:pPr algn="ctr">
              <a:defRPr b="1" sz="1200">
                <a:solidFill>
                  <a:srgbClr val="B41E1E"/>
                </a:solidFill>
              </a:defRPr>
            </a:pPr>
            <a:r>
              <a:t>INSTITUTE OF SCIENCE AND TECHNOLOGY</a:t>
            </a:r>
            <a:br/>
            <a:r>
              <a:t>(DEEMED TO BE UNIVERSITY)</a:t>
            </a:r>
          </a:p>
          <a:p>
            <a:pPr algn="ctr">
              <a:defRPr sz="900">
                <a:solidFill>
                  <a:srgbClr val="102C57"/>
                </a:solidFill>
              </a:defRPr>
            </a:pPr>
            <a:r>
              <a:t>CATEGORY - 1 UNIVERSITY BY UGC</a:t>
            </a:r>
            <a:br/>
            <a:r>
              <a:t>Accredited with 'A++' grade by NAAC | Approved by AICTE</a:t>
            </a:r>
            <a:br/>
            <a:r>
              <a:t>www.sathyabama.ac.in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828800"/>
            <a:ext cx="8412480" cy="18288"/>
          </a:xfrm>
          <a:prstGeom prst="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217920"/>
            <a:ext cx="8412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B4B4"/>
                </a:solidFill>
              </a:defRPr>
            </a:pPr>
            <a:r>
              <a:t>20 September 2026</a:t>
            </a:r>
          </a:p>
          <a:p>
            <a:pPr algn="ctr">
              <a:defRPr sz="900">
                <a:solidFill>
                  <a:srgbClr val="B4B4B4"/>
                </a:solidFill>
              </a:defRPr>
            </a:pPr>
            <a:r>
              <a:t>School of Computing - CSE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800">
                <a:solidFill>
                  <a:srgbClr val="1B365D"/>
                </a:solidFill>
              </a:defRPr>
            </a:pPr>
            <a:r>
              <a:t>DEPARTMENT OF COMPUTER SCIENCE AND ENGINEERING</a:t>
            </a:r>
          </a:p>
          <a:p>
            <a:pPr algn="ctr">
              <a:defRPr b="1" sz="1500">
                <a:solidFill>
                  <a:srgbClr val="282828"/>
                </a:solidFill>
              </a:defRPr>
            </a:pPr>
            <a:r>
              <a:t>Professional Training I</a:t>
            </a:r>
          </a:p>
          <a:p>
            <a:pPr algn="ctr">
              <a:defRPr b="1" sz="2200">
                <a:solidFill>
                  <a:srgbClr val="102C57"/>
                </a:solidFill>
              </a:defRPr>
            </a:pPr>
            <a:r>
              <a:t>AI INTERVIEW COACH AGENT</a:t>
            </a:r>
          </a:p>
          <a:p>
            <a:pPr algn="ctr">
              <a:defRPr i="1" sz="1200">
                <a:solidFill>
                  <a:srgbClr val="282828"/>
                </a:solidFill>
              </a:defRPr>
            </a:pPr>
            <a:r>
              <a:t>A Voice-Based Local AI Platform for Interactive Mock Interviews and Personalised Performance Coaching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B365D"/>
                </a:solidFill>
              </a:defRPr>
            </a:pPr>
            <a:r>
              <a:t>PROJECT STUDENT</a:t>
            </a:r>
          </a:p>
          <a:p>
            <a:pPr>
              <a:defRPr b="1" sz="1200">
                <a:solidFill>
                  <a:srgbClr val="282828"/>
                </a:solidFill>
              </a:defRPr>
            </a:pPr>
            <a:r>
              <a:t>DALTA THARUN SAI, 43110253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572000"/>
            <a:ext cx="4023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B365D"/>
                </a:solidFill>
              </a:defRPr>
            </a:pPr>
            <a:r>
              <a:t>GUIDE</a:t>
            </a:r>
          </a:p>
          <a:p>
            <a:pPr>
              <a:defRPr b="1" sz="1200">
                <a:solidFill>
                  <a:srgbClr val="282828"/>
                </a:solidFill>
              </a:defRPr>
            </a:pPr>
            <a:r>
              <a:t>Dr. D. Saravanan, M.E., Ph.D.,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Associate Professor,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190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400">
                <a:solidFill>
                  <a:srgbClr val="1B365D"/>
                </a:solidFill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8412480" cy="1828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217920"/>
            <a:ext cx="8412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B4B4"/>
                </a:solidFill>
              </a:defRPr>
            </a:pPr>
            <a:r>
              <a:t>20 September 2026</a:t>
            </a:r>
          </a:p>
          <a:p>
            <a:pPr algn="ctr">
              <a:defRPr sz="900">
                <a:solidFill>
                  <a:srgbClr val="B4B4B4"/>
                </a:solidFill>
              </a:defRPr>
            </a:pPr>
            <a:r>
              <a:t>School of Computing - CSE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6304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  Certificate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  Abstract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  Introduction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  Objective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  System Architecture / Ideation Map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  Module Implementation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  Results and Discussions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  Conclusion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190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400">
                <a:solidFill>
                  <a:srgbClr val="1B365D"/>
                </a:solidFill>
              </a:defRPr>
            </a:pPr>
            <a:r>
              <a:t>COURSE CERTIFICATE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8412480" cy="1828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217920"/>
            <a:ext cx="8412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B4B4"/>
                </a:solidFill>
              </a:defRPr>
            </a:pPr>
            <a:r>
              <a:t>20 September 2026</a:t>
            </a:r>
          </a:p>
          <a:p>
            <a:pPr algn="ctr">
              <a:defRPr sz="900">
                <a:solidFill>
                  <a:srgbClr val="B4B4B4"/>
                </a:solidFill>
              </a:defRPr>
            </a:pPr>
            <a:r>
              <a:t>School of Computing - CSE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645920"/>
            <a:ext cx="6400800" cy="4114800"/>
          </a:xfrm>
          <a:prstGeom prst="rect">
            <a:avLst/>
          </a:prstGeom>
          <a:solidFill>
            <a:srgbClr val="F5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B4B4B4"/>
                </a:solidFill>
              </a:defRPr>
            </a:pPr>
            <a:r>
              <a:t>[ Course Certificate Placeholder ]</a:t>
            </a:r>
            <a:br/>
            <a:br/>
            <a:r>
              <a:t>Attach Course Completion Certificate 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190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400">
                <a:solidFill>
                  <a:srgbClr val="1B365D"/>
                </a:solidFill>
              </a:defRPr>
            </a:pPr>
            <a: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8412480" cy="1828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217920"/>
            <a:ext cx="8412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B4B4"/>
                </a:solidFill>
              </a:defRPr>
            </a:pPr>
            <a:r>
              <a:t>20 September 2026</a:t>
            </a:r>
          </a:p>
          <a:p>
            <a:pPr algn="ctr">
              <a:defRPr sz="900">
                <a:solidFill>
                  <a:srgbClr val="B4B4B4"/>
                </a:solidFill>
              </a:defRPr>
            </a:pPr>
            <a:r>
              <a:t>School of Computing - CSE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82828"/>
                </a:solidFill>
              </a:defRPr>
            </a:pPr>
            <a:r>
              <a:t>• The AI Interview Coach Agent is an intelligent, voice-interactive mock interview platform designed to provide automated technical interview practice and personalized feedback.</a:t>
            </a:r>
          </a:p>
          <a:p>
            <a:pPr>
              <a:spcAft>
                <a:spcPts val="1200"/>
              </a:spcAft>
              <a:defRPr sz="1400">
                <a:solidFill>
                  <a:srgbClr val="282828"/>
                </a:solidFill>
              </a:defRPr>
            </a:pPr>
            <a:r>
              <a:t>• Built using Python, Streamlit, SQLite, and Ollama with a local LLM, the system operates entirely locally on a laptop, eliminating expensive cloud API dependencies and guaranteeing user data privacy.</a:t>
            </a:r>
          </a:p>
          <a:p>
            <a:pPr>
              <a:spcAft>
                <a:spcPts val="1200"/>
              </a:spcAft>
              <a:defRPr sz="1400">
                <a:solidFill>
                  <a:srgbClr val="282828"/>
                </a:solidFill>
              </a:defRPr>
            </a:pPr>
            <a:r>
              <a:t>• The candidate interacts through a Streamlit UI while laptop microphone and camera record spoken responses and simulate a real interview setup. Audio is processed via Speech-to-Text (STT) into textual answers.</a:t>
            </a:r>
          </a:p>
          <a:p>
            <a:pPr>
              <a:spcAft>
                <a:spcPts val="1200"/>
              </a:spcAft>
              <a:defRPr sz="1400">
                <a:solidFill>
                  <a:srgbClr val="282828"/>
                </a:solidFill>
              </a:defRPr>
            </a:pPr>
            <a:r>
              <a:t>• The local AI model evaluates answers across 5 dimensions: Relevance, Technical Correctness, Completeness, Communication Clarity, and Specific Areas for Improvement.</a:t>
            </a:r>
          </a:p>
          <a:p>
            <a:pPr>
              <a:spcAft>
                <a:spcPts val="1200"/>
              </a:spcAft>
              <a:defRPr sz="1400">
                <a:solidFill>
                  <a:srgbClr val="282828"/>
                </a:solidFill>
              </a:defRPr>
            </a:pPr>
            <a:r>
              <a:t>• The application generates real-time question scores, detailed coaching advice, final performance reports, and persistent progress tracking via SQLite to enable continuous candidate growth.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190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400">
                <a:solidFill>
                  <a:srgbClr val="1B365D"/>
                </a:solidFill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8412480" cy="1828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217920"/>
            <a:ext cx="8412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B4B4"/>
                </a:solidFill>
              </a:defRPr>
            </a:pPr>
            <a:r>
              <a:t>20 September 2026</a:t>
            </a:r>
          </a:p>
          <a:p>
            <a:pPr algn="ctr">
              <a:defRPr sz="900">
                <a:solidFill>
                  <a:srgbClr val="B4B4B4"/>
                </a:solidFill>
              </a:defRPr>
            </a:pPr>
            <a:r>
              <a:t>School of Computing - CSE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1B365D"/>
                </a:solidFill>
              </a:rPr>
              <a:t>•  Background &amp; Motivation: </a:t>
            </a:r>
            <a:r>
              <a:rPr sz="1300">
                <a:solidFill>
                  <a:srgbClr val="282828"/>
                </a:solidFill>
              </a:rPr>
              <a:t>Technical job interviews require domain proficiency, quick problem solving, and effective verbal communication. Practicing in realistic scenarios is critical for student success.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B365D"/>
                </a:solidFill>
              </a:rPr>
              <a:t>•  Key Challenges in Existing Solutions: </a:t>
            </a:r>
            <a:r>
              <a:rPr sz="1300">
                <a:solidFill>
                  <a:srgbClr val="282828"/>
                </a:solidFill>
              </a:rPr>
              <a:t>Human mock interviews are difficult to schedule and costly. Most online platforms provide static quiz formats without verbal interaction or deep feedback.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B365D"/>
                </a:solidFill>
              </a:rPr>
              <a:t>•  Proposed AI Solution: </a:t>
            </a:r>
            <a:r>
              <a:rPr sz="1300">
                <a:solidFill>
                  <a:srgbClr val="282828"/>
                </a:solidFill>
              </a:rPr>
              <a:t>An autonomous, voice-driven AI Interview Coach Agent that acts as a personalized interviewer and mentor directly on the user's laptop.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B365D"/>
                </a:solidFill>
              </a:rPr>
              <a:t>•  Local AI Advantage: </a:t>
            </a:r>
            <a:r>
              <a:rPr sz="1300">
                <a:solidFill>
                  <a:srgbClr val="282828"/>
                </a:solidFill>
              </a:rPr>
              <a:t>Utilizes Ollama with open-weight LLMs (e.g., Llama/Mistral), allowing full offline execution without recurring API fees or privacy risks.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B365D"/>
                </a:solidFill>
              </a:rPr>
              <a:t>•  Core Capabilities: </a:t>
            </a:r>
            <a:r>
              <a:rPr sz="1300">
                <a:solidFill>
                  <a:srgbClr val="282828"/>
                </a:solidFill>
              </a:rPr>
              <a:t>Dynamic question generation, voice answer evaluation, actionable coaching suggestions, and historical progress tracking over multiple practice sessions.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190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400">
                <a:solidFill>
                  <a:srgbClr val="1B365D"/>
                </a:solidFill>
              </a:defRPr>
            </a:pPr>
            <a:r>
              <a:t>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8412480" cy="1828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217920"/>
            <a:ext cx="8412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B4B4"/>
                </a:solidFill>
              </a:defRPr>
            </a:pPr>
            <a:r>
              <a:t>20 September 2026</a:t>
            </a:r>
          </a:p>
          <a:p>
            <a:pPr algn="ctr">
              <a:defRPr sz="900">
                <a:solidFill>
                  <a:srgbClr val="B4B4B4"/>
                </a:solidFill>
              </a:defRPr>
            </a:pPr>
            <a:r>
              <a:t>School of Computing - CSE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B365D"/>
                </a:solidFill>
              </a:defRPr>
            </a:pPr>
            <a:r>
              <a:t>Primary Goal:</a:t>
            </a:r>
          </a:p>
          <a:p>
            <a:pPr>
              <a:spcAft>
                <a:spcPts val="1400"/>
              </a:spcAft>
              <a:defRPr sz="1400">
                <a:solidFill>
                  <a:srgbClr val="282828"/>
                </a:solidFill>
              </a:defRPr>
            </a:pPr>
            <a:r>
              <a:t>To design and implement a standalone, voice-enabled AI Mock Interviewer &amp; Performance Coach that provides real-time evaluation and continuous training recommendations for engineering students.</a:t>
            </a:r>
          </a:p>
          <a:p>
            <a:pPr>
              <a:spcAft>
                <a:spcPts val="600"/>
              </a:spcAft>
              <a:defRPr b="1" sz="1500">
                <a:solidFill>
                  <a:srgbClr val="1B365D"/>
                </a:solidFill>
              </a:defRPr>
            </a:pPr>
            <a:r>
              <a:t>Specific Technical Objectives:</a:t>
            </a:r>
          </a:p>
          <a:p>
            <a:pPr>
              <a:spcAft>
                <a:spcPts val="800"/>
              </a:spcAft>
              <a:defRPr sz="1300">
                <a:solidFill>
                  <a:srgbClr val="282828"/>
                </a:solidFill>
              </a:defRPr>
            </a:pPr>
            <a:r>
              <a:t>• 1. Interactive Web Interface: Build a lightweight, intuitive front-end using Streamlit for candidate details and interview setup.</a:t>
            </a:r>
          </a:p>
          <a:p>
            <a:pPr>
              <a:spcAft>
                <a:spcPts val="800"/>
              </a:spcAft>
              <a:defRPr sz="1300">
                <a:solidFill>
                  <a:srgbClr val="282828"/>
                </a:solidFill>
              </a:defRPr>
            </a:pPr>
            <a:r>
              <a:t>• 2. Role-Based Question Generation: Leverage Ollama and local LLMs to generate contextual technical questions based on chosen role and skill level.</a:t>
            </a:r>
          </a:p>
          <a:p>
            <a:pPr>
              <a:spcAft>
                <a:spcPts val="800"/>
              </a:spcAft>
              <a:defRPr sz="1300">
                <a:solidFill>
                  <a:srgbClr val="282828"/>
                </a:solidFill>
              </a:defRPr>
            </a:pPr>
            <a:r>
              <a:t>• 3. Realistic Multimodal Interaction: Embed laptop webcam stream and microphone input with Speech-to-Text (STT) conversion.</a:t>
            </a:r>
          </a:p>
          <a:p>
            <a:pPr>
              <a:spcAft>
                <a:spcPts val="800"/>
              </a:spcAft>
              <a:defRPr sz="1300">
                <a:solidFill>
                  <a:srgbClr val="282828"/>
                </a:solidFill>
              </a:defRPr>
            </a:pPr>
            <a:r>
              <a:t>• 4. Automated Multi-Criteria Evaluation: Analyze answers for relevance, technical correctness, completeness, and clarity.</a:t>
            </a:r>
          </a:p>
          <a:p>
            <a:pPr>
              <a:spcAft>
                <a:spcPts val="800"/>
              </a:spcAft>
              <a:defRPr sz="1300">
                <a:solidFill>
                  <a:srgbClr val="282828"/>
                </a:solidFill>
              </a:defRPr>
            </a:pPr>
            <a:r>
              <a:t>• 5. SQLite Persistence &amp; Progress Tracking: Store session logs, responses, scores, and track score improvement over multiple attempts.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190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400">
                <a:solidFill>
                  <a:srgbClr val="1B365D"/>
                </a:solidFill>
              </a:defRPr>
            </a:pPr>
            <a:r>
              <a:t>SYSTEM ARCHITECTURE / IDEATION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8412480" cy="1828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217920"/>
            <a:ext cx="8412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B4B4"/>
                </a:solidFill>
              </a:defRPr>
            </a:pPr>
            <a:r>
              <a:t>20 September 2026</a:t>
            </a:r>
          </a:p>
          <a:p>
            <a:pPr algn="ctr">
              <a:defRPr sz="900">
                <a:solidFill>
                  <a:srgbClr val="B4B4B4"/>
                </a:solidFill>
              </a:defRPr>
            </a:pPr>
            <a:r>
              <a:t>School of Computing - CSE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657600" cy="9144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b="1" sz="1200">
                <a:solidFill>
                  <a:srgbClr val="1B365D"/>
                </a:solidFill>
              </a:defRPr>
            </a:pPr>
            <a:r>
              <a:t>1. Student Input</a:t>
            </a:r>
          </a:p>
          <a:p>
            <a:pPr>
              <a:defRPr sz="1000">
                <a:solidFill>
                  <a:srgbClr val="282828"/>
                </a:solidFill>
              </a:defRPr>
            </a:pPr>
            <a:r>
              <a:t>Name, Role, Skill Level, Interview 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59" y="1463040"/>
            <a:ext cx="3657600" cy="9144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b="1" sz="1200">
                <a:solidFill>
                  <a:srgbClr val="1B365D"/>
                </a:solidFill>
              </a:defRPr>
            </a:pPr>
            <a:r>
              <a:t>2. Streamlit UI</a:t>
            </a:r>
          </a:p>
          <a:p>
            <a:pPr>
              <a:defRPr sz="1000">
                <a:solidFill>
                  <a:srgbClr val="282828"/>
                </a:solidFill>
              </a:defRPr>
            </a:pPr>
            <a:r>
              <a:t>Web front-end interface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3657600" cy="9144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b="1" sz="1200">
                <a:solidFill>
                  <a:srgbClr val="1B365D"/>
                </a:solidFill>
              </a:defRPr>
            </a:pPr>
            <a:r>
              <a:t>3. Session Manager</a:t>
            </a:r>
          </a:p>
          <a:p>
            <a:pPr>
              <a:defRPr sz="1000">
                <a:solidFill>
                  <a:srgbClr val="282828"/>
                </a:solidFill>
              </a:defRPr>
            </a:pPr>
            <a:r>
              <a:t>Creates unique Session ID in SQLite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59" y="2606040"/>
            <a:ext cx="3657600" cy="9144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b="1" sz="1200">
                <a:solidFill>
                  <a:srgbClr val="1B365D"/>
                </a:solidFill>
              </a:defRPr>
            </a:pPr>
            <a:r>
              <a:t>4. Camera + Mic</a:t>
            </a:r>
          </a:p>
          <a:p>
            <a:pPr>
              <a:defRPr sz="1000">
                <a:solidFill>
                  <a:srgbClr val="282828"/>
                </a:solidFill>
              </a:defRPr>
            </a:pPr>
            <a:r>
              <a:t>Captures candidate video &amp; spoken audio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3657600" cy="9144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b="1" sz="1200">
                <a:solidFill>
                  <a:srgbClr val="1B365D"/>
                </a:solidFill>
              </a:defRPr>
            </a:pPr>
            <a:r>
              <a:t>5. Speech-to-Text</a:t>
            </a:r>
          </a:p>
          <a:p>
            <a:pPr>
              <a:defRPr sz="1000">
                <a:solidFill>
                  <a:srgbClr val="282828"/>
                </a:solidFill>
              </a:defRPr>
            </a:pPr>
            <a:r>
              <a:t>Converts spoken answer to 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59" y="3749039"/>
            <a:ext cx="3657600" cy="9144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b="1" sz="1200">
                <a:solidFill>
                  <a:srgbClr val="1B365D"/>
                </a:solidFill>
              </a:defRPr>
            </a:pPr>
            <a:r>
              <a:t>6. Ollama Local LLM</a:t>
            </a:r>
          </a:p>
          <a:p>
            <a:pPr>
              <a:defRPr sz="1000">
                <a:solidFill>
                  <a:srgbClr val="282828"/>
                </a:solidFill>
              </a:defRPr>
            </a:pPr>
            <a:r>
              <a:t>Evaluates answer &amp; generates feedback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92040"/>
            <a:ext cx="3657600" cy="9144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b="1" sz="1200">
                <a:solidFill>
                  <a:srgbClr val="1B365D"/>
                </a:solidFill>
              </a:defRPr>
            </a:pPr>
            <a:r>
              <a:t>7. SQLite DB</a:t>
            </a:r>
          </a:p>
          <a:p>
            <a:pPr>
              <a:defRPr sz="1000">
                <a:solidFill>
                  <a:srgbClr val="282828"/>
                </a:solidFill>
              </a:defRPr>
            </a:pPr>
            <a:r>
              <a:t>Stores Q&amp;A, scores, and reports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59" y="4892040"/>
            <a:ext cx="3657600" cy="9144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b="1" sz="1200">
                <a:solidFill>
                  <a:srgbClr val="1B365D"/>
                </a:solidFill>
              </a:defRPr>
            </a:pPr>
            <a:r>
              <a:t>8. Progress Dashboard</a:t>
            </a:r>
          </a:p>
          <a:p>
            <a:pPr>
              <a:defRPr sz="1000">
                <a:solidFill>
                  <a:srgbClr val="282828"/>
                </a:solidFill>
              </a:defRPr>
            </a:pPr>
            <a:r>
              <a:t>Displays performance trend &amp; coaching tips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190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400">
                <a:solidFill>
                  <a:srgbClr val="1B365D"/>
                </a:solidFill>
              </a:defRPr>
            </a:pPr>
            <a:r>
              <a:t>SYSTEM ARCHITECTURE (CONTROLLER HIERARCHY)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8412480" cy="1828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217920"/>
            <a:ext cx="8412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B4B4"/>
                </a:solidFill>
              </a:defRPr>
            </a:pPr>
            <a:r>
              <a:t>20 September 2026</a:t>
            </a:r>
          </a:p>
          <a:p>
            <a:pPr algn="ctr">
              <a:defRPr sz="900">
                <a:solidFill>
                  <a:srgbClr val="B4B4B4"/>
                </a:solidFill>
              </a:defRPr>
            </a:pPr>
            <a:r>
              <a:t>School of Computing - CSE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1B365D"/>
                </a:solidFill>
              </a:defRPr>
            </a:pPr>
            <a:r>
              <a:t>Central Controller: Python Application Logic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02C57"/>
                </a:solidFill>
              </a:rPr>
              <a:t>•  Streamlit Front-End: </a:t>
            </a:r>
            <a:r>
              <a:rPr sz="1300">
                <a:solidFill>
                  <a:srgbClr val="282828"/>
                </a:solidFill>
              </a:rPr>
              <a:t>Renders Home, Setup form, Live Camera feed, Question view, Instant Feedback, and Dashboard.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02C57"/>
                </a:solidFill>
              </a:rPr>
              <a:t>•  Ollama AI Engine: </a:t>
            </a:r>
            <a:r>
              <a:rPr sz="1300">
                <a:solidFill>
                  <a:srgbClr val="282828"/>
                </a:solidFill>
              </a:rPr>
              <a:t>Runs local LLM (e.g. Llama-3/Mistral) for question synthesis and structured answer evaluation.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02C57"/>
                </a:solidFill>
              </a:rPr>
              <a:t>•  SQLite Storage Engine: </a:t>
            </a:r>
            <a:r>
              <a:rPr sz="1300">
                <a:solidFill>
                  <a:srgbClr val="282828"/>
                </a:solidFill>
              </a:rPr>
              <a:t>Maintains relational schema (`users`, `sessions`, `questions`, `answers`, `performance`).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02C57"/>
                </a:solidFill>
              </a:rPr>
              <a:t>•  Hardware Interfacing: </a:t>
            </a:r>
            <a:r>
              <a:rPr sz="1300">
                <a:solidFill>
                  <a:srgbClr val="282828"/>
                </a:solidFill>
              </a:rPr>
              <a:t>Integrates laptop webcam video stream and laptop microphone audio capture via STT pipeline.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02C57"/>
                </a:solidFill>
              </a:rPr>
              <a:t>•  Controller Orchestration: </a:t>
            </a:r>
            <a:r>
              <a:rPr sz="1300">
                <a:solidFill>
                  <a:srgbClr val="282828"/>
                </a:solidFill>
              </a:rPr>
              <a:t>Python coordinates session state, turn switching, score aggregation, and report generation.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190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400">
                <a:solidFill>
                  <a:srgbClr val="1B365D"/>
                </a:solidFill>
              </a:defRPr>
            </a:pPr>
            <a:r>
              <a:t>MODULE IMPLEMENTATION: 1. USER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8412480" cy="1828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217920"/>
            <a:ext cx="8412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B4B4"/>
                </a:solidFill>
              </a:defRPr>
            </a:pPr>
            <a:r>
              <a:t>20 September 2026</a:t>
            </a:r>
          </a:p>
          <a:p>
            <a:pPr algn="ctr">
              <a:defRPr sz="900">
                <a:solidFill>
                  <a:srgbClr val="B4B4B4"/>
                </a:solidFill>
              </a:defRPr>
            </a:pPr>
            <a:r>
              <a:t>School of Computing - CSE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1B365D"/>
                </a:solidFill>
              </a:defRPr>
            </a:pPr>
            <a:r>
              <a:t>Module 1: Streamlit Front-End Interface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Purpose: Serves as the primary user touchpoint for configuration, interview participation, and progress viewing.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Setup Parameters Captured: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</a:defRPr>
            </a:pPr>
            <a:r>
              <a:t>    - Student Name (e.g., Charan)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</a:defRPr>
            </a:pPr>
            <a:r>
              <a:t>    - Target Job Role (e.g., Python Developer, Data Analyst, Java Developer)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</a:defRPr>
            </a:pPr>
            <a:r>
              <a:t>    - Candidate Skill Level (Beginner / Intermediate / Advanced)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</a:defRPr>
            </a:pPr>
            <a:r>
              <a:t>    - Interview Type (Technical / HR / Mixed)</a:t>
            </a:r>
          </a:p>
          <a:p>
            <a:pPr>
              <a:spcAft>
                <a:spcPts val="600"/>
              </a:spcAft>
              <a:defRPr sz="1200">
                <a:solidFill>
                  <a:srgbClr val="282828"/>
                </a:solidFill>
              </a:defRPr>
            </a:pPr>
            <a:r>
              <a:t>    - Question Limit (Default: 5 questions per session)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Clean UI Workflow: Replaces complex web stacks with pure Python + Streamlit controls, rendering dynamic widgets and instant page transitions.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190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400">
                <a:solidFill>
                  <a:srgbClr val="1B365D"/>
                </a:solidFill>
              </a:defRPr>
            </a:pPr>
            <a:r>
              <a:t>MODULE IMPLEMENTATION: 2 &amp; 3. INTERVIEW &amp; QUESTION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8412480" cy="1828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217920"/>
            <a:ext cx="8412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B4B4"/>
                </a:solidFill>
              </a:defRPr>
            </a:pPr>
            <a:r>
              <a:t>20 September 2026</a:t>
            </a:r>
          </a:p>
          <a:p>
            <a:pPr algn="ctr">
              <a:defRPr sz="900">
                <a:solidFill>
                  <a:srgbClr val="B4B4B4"/>
                </a:solidFill>
              </a:defRPr>
            </a:pPr>
            <a:r>
              <a:t>School of Computing - CSE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B365D"/>
                </a:solidFill>
              </a:defRPr>
            </a:pPr>
            <a:r>
              <a:t>Module 2: Interview Management</a:t>
            </a:r>
          </a:p>
          <a:p>
            <a:pPr>
              <a:spcAft>
                <a:spcPts val="400"/>
              </a:spcAft>
              <a:defRPr sz="1200">
                <a:solidFill>
                  <a:srgbClr val="282828"/>
                </a:solidFill>
              </a:defRPr>
            </a:pPr>
            <a:r>
              <a:t>• Creates unique Session ID (e.g. Session #1001) in SQLite upon clicking 'START INTERVIEW'.</a:t>
            </a:r>
          </a:p>
          <a:p>
            <a:pPr>
              <a:spcAft>
                <a:spcPts val="400"/>
              </a:spcAft>
              <a:defRPr sz="1200">
                <a:solidFill>
                  <a:srgbClr val="282828"/>
                </a:solidFill>
              </a:defRPr>
            </a:pPr>
            <a:r>
              <a:t>• Activates laptop webcam container for realistic video presence during the session.</a:t>
            </a:r>
          </a:p>
          <a:p>
            <a:pPr>
              <a:spcAft>
                <a:spcPts val="400"/>
              </a:spcAft>
              <a:defRPr sz="1200">
                <a:solidFill>
                  <a:srgbClr val="282828"/>
                </a:solidFill>
              </a:defRPr>
            </a:pPr>
            <a:r>
              <a:t>• Controls audio recording via laptop microphone and triggers Speech-to-Text conversion.</a:t>
            </a:r>
          </a:p>
          <a:p>
            <a:br/>
            <a:pPr>
              <a:defRPr b="1" sz="1400">
                <a:solidFill>
                  <a:srgbClr val="1B365D"/>
                </a:solidFill>
              </a:defRPr>
            </a:pPr>
            <a:r>
              <a:t>Module 3: Question Generation</a:t>
            </a:r>
          </a:p>
          <a:p>
            <a:pPr>
              <a:spcAft>
                <a:spcPts val="400"/>
              </a:spcAft>
              <a:defRPr sz="1200">
                <a:solidFill>
                  <a:srgbClr val="282828"/>
                </a:solidFill>
              </a:defRPr>
            </a:pPr>
            <a:r>
              <a:t>• Constructs prompt combining Job Role + Skill Level and queries Ollama local LLM.</a:t>
            </a:r>
          </a:p>
          <a:p>
            <a:pPr>
              <a:spcAft>
                <a:spcPts val="400"/>
              </a:spcAft>
              <a:defRPr sz="1200">
                <a:solidFill>
                  <a:srgbClr val="282828"/>
                </a:solidFill>
              </a:defRPr>
            </a:pPr>
            <a:r>
              <a:t>• Dynamically synthesizes 5 progressive technical questions tailored to candidate level.</a:t>
            </a:r>
          </a:p>
          <a:p>
            <a:pPr>
              <a:spcAft>
                <a:spcPts val="400"/>
              </a:spcAft>
              <a:defRPr sz="1200">
                <a:solidFill>
                  <a:srgbClr val="282828"/>
                </a:solidFill>
              </a:defRPr>
            </a:pPr>
            <a:r>
              <a:t>• Demonstration Sequence: Q1: Python Basics -&gt; Q2: Data Types -&gt; Q3: List vs Tuple -&gt; Q4: Functions -&gt; Q5: Exception Handling.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190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400">
                <a:solidFill>
                  <a:srgbClr val="1B365D"/>
                </a:solidFill>
              </a:defRPr>
            </a:pPr>
            <a:r>
              <a:t>MODULE IMPLEMENTATION: 4 &amp; 5. ANSWER ANALYSIS &amp; COACHING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8412480" cy="1828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217920"/>
            <a:ext cx="8412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B4B4"/>
                </a:solidFill>
              </a:defRPr>
            </a:pPr>
            <a:r>
              <a:t>20 September 2026</a:t>
            </a:r>
          </a:p>
          <a:p>
            <a:pPr algn="ctr">
              <a:defRPr sz="900">
                <a:solidFill>
                  <a:srgbClr val="B4B4B4"/>
                </a:solidFill>
              </a:defRPr>
            </a:pPr>
            <a:r>
              <a:t>School of Computing - CSE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B365D"/>
                </a:solidFill>
              </a:defRPr>
            </a:pPr>
            <a:r>
              <a:t>Module 4: Answer Analysis (Ollama Local AI)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• Evaluates candidate's spoken text answer against question prompt across 5 parameters: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    - 1. Relevance (Did student directly answer question?)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    - 2. Correctness (Is technical explanation accurate?)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    - 3. Completeness (Were essential concepts covered?)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    - 4. Communication (Is explanation clear and structured?)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    - 5. Improvement Areas (What key aspects were missing?)</a:t>
            </a:r>
          </a:p>
          <a:p>
            <a:br/>
            <a:pPr>
              <a:defRPr b="1" sz="1400">
                <a:solidFill>
                  <a:srgbClr val="1B365D"/>
                </a:solidFill>
              </a:defRPr>
            </a:pPr>
            <a:r>
              <a:t>Module 5: Feedback &amp; Coaching Engine</a:t>
            </a:r>
          </a:p>
          <a:p>
            <a:pPr>
              <a:spcAft>
                <a:spcPts val="400"/>
              </a:spcAft>
              <a:defRPr sz="1200">
                <a:solidFill>
                  <a:srgbClr val="282828"/>
                </a:solidFill>
              </a:defRPr>
            </a:pPr>
            <a:r>
              <a:t>• Generates instant score (e.g. 8/10), verified strengths, areas to improve, and practical tips.</a:t>
            </a:r>
          </a:p>
          <a:p>
            <a:pPr>
              <a:spcAft>
                <a:spcPts val="400"/>
              </a:spcAft>
              <a:defRPr sz="1200">
                <a:solidFill>
                  <a:srgbClr val="282828"/>
                </a:solidFill>
              </a:defRPr>
            </a:pPr>
            <a:r>
              <a:t>• Transforms standard questioning into an interactive coaching session before moving to Next Question.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190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400">
                <a:solidFill>
                  <a:srgbClr val="1B365D"/>
                </a:solidFill>
              </a:defRPr>
            </a:pPr>
            <a:r>
              <a:t>MODULE IMPLEMENTATION: 6 &amp; 7. PERFORMANCE &amp; DATA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8412480" cy="1828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217920"/>
            <a:ext cx="8412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B4B4"/>
                </a:solidFill>
              </a:defRPr>
            </a:pPr>
            <a:r>
              <a:t>20 September 2026</a:t>
            </a:r>
          </a:p>
          <a:p>
            <a:pPr algn="ctr">
              <a:defRPr sz="900">
                <a:solidFill>
                  <a:srgbClr val="B4B4B4"/>
                </a:solidFill>
              </a:defRPr>
            </a:pPr>
            <a:r>
              <a:t>School of Computing - CSE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B365D"/>
                </a:solidFill>
              </a:defRPr>
            </a:pPr>
            <a:r>
              <a:t>Module 6: Performance Management &amp; Reporting</a:t>
            </a:r>
          </a:p>
          <a:p>
            <a:pPr>
              <a:spcAft>
                <a:spcPts val="400"/>
              </a:spcAft>
              <a:defRPr sz="1200">
                <a:solidFill>
                  <a:srgbClr val="282828"/>
                </a:solidFill>
              </a:defRPr>
            </a:pPr>
            <a:r>
              <a:t>• Compiles Final Interview Performance Report after all 5 questions complete.</a:t>
            </a:r>
          </a:p>
          <a:p>
            <a:pPr>
              <a:spcAft>
                <a:spcPts val="400"/>
              </a:spcAft>
              <a:defRPr sz="1200">
                <a:solidFill>
                  <a:srgbClr val="282828"/>
                </a:solidFill>
              </a:defRPr>
            </a:pPr>
            <a:r>
              <a:t>• Computes Overall Percentage (e.g. 78%), Technical Knowledge (8/10), Answer Quality (7/10), and Communication (8/10).</a:t>
            </a:r>
          </a:p>
          <a:p>
            <a:pPr>
              <a:spcAft>
                <a:spcPts val="400"/>
              </a:spcAft>
              <a:defRPr sz="1200">
                <a:solidFill>
                  <a:srgbClr val="282828"/>
                </a:solidFill>
              </a:defRPr>
            </a:pPr>
            <a:r>
              <a:t>• Generates personalized Training Recommendations (e.g. 'Practice Python Data Structures', 'Explain with examples').</a:t>
            </a:r>
          </a:p>
          <a:p>
            <a:br/>
            <a:pPr>
              <a:defRPr b="1" sz="1400">
                <a:solidFill>
                  <a:srgbClr val="1B365D"/>
                </a:solidFill>
              </a:defRPr>
            </a:pPr>
            <a:r>
              <a:t>Module 7: Data Management (SQLite Database)</a:t>
            </a:r>
          </a:p>
          <a:p>
            <a:pPr>
              <a:spcAft>
                <a:spcPts val="400"/>
              </a:spcAft>
              <a:defRPr sz="1200">
                <a:solidFill>
                  <a:srgbClr val="282828"/>
                </a:solidFill>
              </a:defRPr>
            </a:pPr>
            <a:r>
              <a:t>• Database File: `interview_coach.db` created locally in project folder.</a:t>
            </a:r>
          </a:p>
          <a:p>
            <a:pPr>
              <a:spcAft>
                <a:spcPts val="400"/>
              </a:spcAft>
              <a:defRPr sz="1200">
                <a:solidFill>
                  <a:srgbClr val="282828"/>
                </a:solidFill>
              </a:defRPr>
            </a:pPr>
            <a:r>
              <a:t>• Stores users, sessions, questions, answers, scores, feedback, and performance history.</a:t>
            </a:r>
          </a:p>
          <a:p>
            <a:pPr>
              <a:spcAft>
                <a:spcPts val="400"/>
              </a:spcAft>
              <a:defRPr sz="1200">
                <a:solidFill>
                  <a:srgbClr val="282828"/>
                </a:solidFill>
              </a:defRPr>
            </a:pPr>
            <a:r>
              <a:t>• Enables historical comparisons and continuous progress tracking across practice attempts.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190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400">
                <a:solidFill>
                  <a:srgbClr val="1B365D"/>
                </a:solidFill>
              </a:defRPr>
            </a:pPr>
            <a:r>
              <a:t>SQLITE DATABASE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8412480" cy="1828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217920"/>
            <a:ext cx="8412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B4B4"/>
                </a:solidFill>
              </a:defRPr>
            </a:pPr>
            <a:r>
              <a:t>20 September 2026</a:t>
            </a:r>
          </a:p>
          <a:p>
            <a:pPr algn="ctr">
              <a:defRPr sz="900">
                <a:solidFill>
                  <a:srgbClr val="B4B4B4"/>
                </a:solidFill>
              </a:defRPr>
            </a:pPr>
            <a:r>
              <a:t>School of Computing - CSE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1B365D"/>
                </a:solidFill>
              </a:defRPr>
            </a:pPr>
            <a:r>
              <a:t>Relational Structure of `interview_coach.db`: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02C57"/>
                </a:solidFill>
              </a:rPr>
              <a:t>•  Table `users`: </a:t>
            </a:r>
            <a:r>
              <a:rPr sz="1200">
                <a:solidFill>
                  <a:srgbClr val="282828"/>
                </a:solidFill>
              </a:rPr>
              <a:t>user_id (PK), name, created_at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02C57"/>
                </a:solidFill>
              </a:rPr>
              <a:t>•  Table `interview_sessions`: </a:t>
            </a:r>
            <a:r>
              <a:rPr sz="1200">
                <a:solidFill>
                  <a:srgbClr val="282828"/>
                </a:solidFill>
              </a:rPr>
              <a:t>session_id (PK), user_id (FK), job_role, skill_level, interview_type, start_time, end_time, overall_score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02C57"/>
                </a:solidFill>
              </a:rPr>
              <a:t>•  Table `questions`: </a:t>
            </a:r>
            <a:r>
              <a:rPr sz="1200">
                <a:solidFill>
                  <a:srgbClr val="282828"/>
                </a:solidFill>
              </a:rPr>
              <a:t>question_id (PK), session_id (FK), question_number, question_text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02C57"/>
                </a:solidFill>
              </a:rPr>
              <a:t>•  Table `answers`: </a:t>
            </a:r>
            <a:r>
              <a:rPr sz="1200">
                <a:solidFill>
                  <a:srgbClr val="282828"/>
                </a:solidFill>
              </a:rPr>
              <a:t>answer_id (PK), question_id (FK), answer_text, score, feedback, suggestion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02C57"/>
                </a:solidFill>
              </a:rPr>
              <a:t>•  Table `performance`: </a:t>
            </a:r>
            <a:r>
              <a:rPr sz="1200">
                <a:solidFill>
                  <a:srgbClr val="282828"/>
                </a:solidFill>
              </a:rPr>
              <a:t>performance_id (PK), session_id (FK), strengths, weaknesses, recommendations, overall_score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190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400">
                <a:solidFill>
                  <a:srgbClr val="1B365D"/>
                </a:solidFill>
              </a:defRPr>
            </a:pPr>
            <a:r>
              <a:t>RESULTS &amp; DISCUSSIONS: SAMPLE INTERVIEW SESSION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8412480" cy="1828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217920"/>
            <a:ext cx="8412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B4B4"/>
                </a:solidFill>
              </a:defRPr>
            </a:pPr>
            <a:r>
              <a:t>20 September 2026</a:t>
            </a:r>
          </a:p>
          <a:p>
            <a:pPr algn="ctr">
              <a:defRPr sz="900">
                <a:solidFill>
                  <a:srgbClr val="B4B4B4"/>
                </a:solidFill>
              </a:defRPr>
            </a:pPr>
            <a:r>
              <a:t>School of Computing - CSE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65760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B365D"/>
                </a:solidFill>
              </a:defRPr>
            </a:pPr>
            <a:r>
              <a:t>Question &amp; Student Response</a:t>
            </a:r>
          </a:p>
          <a:p>
            <a:br/>
            <a:pPr>
              <a:defRPr b="1" sz="1200">
                <a:solidFill>
                  <a:srgbClr val="102C57"/>
                </a:solidFill>
              </a:defRPr>
            </a:pPr>
            <a:r>
              <a:t>Question 1 of 5:</a:t>
            </a:r>
            <a:br/>
            <a:r>
              <a:t>"What is Python?"</a:t>
            </a:r>
          </a:p>
          <a:p>
            <a:br/>
            <a:pPr>
              <a:defRPr sz="1100">
                <a:solidFill>
                  <a:srgbClr val="282828"/>
                </a:solidFill>
              </a:defRPr>
            </a:pPr>
            <a:r>
              <a:t>Spoken Answer (Transcribed):</a:t>
            </a:r>
            <a:br/>
            <a:r>
              <a:t>"Python is a high-level programming language. It is easy to read and supports object-oriented programming."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463040"/>
            <a:ext cx="3749039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B365D"/>
                </a:solidFill>
              </a:defRPr>
            </a:pPr>
            <a:r>
              <a:t>AI Feedback Output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Score: 8 / 10</a:t>
            </a:r>
            <a:br/>
            <a:br/>
            <a:r>
              <a:t>Strengths:</a:t>
            </a:r>
            <a:br/>
            <a:r>
              <a:t>✓ Correct definition</a:t>
            </a:r>
            <a:br/>
            <a:r>
              <a:t>✓ Relevant explanation</a:t>
            </a:r>
            <a:br/>
            <a:r>
              <a:t>✓ Good fundamental understanding</a:t>
            </a:r>
            <a:br/>
            <a:br/>
            <a:r>
              <a:t>Areas to Improve:</a:t>
            </a:r>
            <a:br/>
            <a:r>
              <a:t>• Mention Python's dynamic typing</a:t>
            </a:r>
            <a:br/>
            <a:r>
              <a:t>• Explain one practical use case</a:t>
            </a:r>
            <a:br/>
            <a:br/>
            <a:r>
              <a:t>Coaching Suggestion:</a:t>
            </a:r>
            <a:br/>
            <a:r>
              <a:t>Include 2–3 key language features when explaining introductory concepts.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190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400">
                <a:solidFill>
                  <a:srgbClr val="1B365D"/>
                </a:solidFill>
              </a:defRPr>
            </a:pPr>
            <a:r>
              <a:t>RESULTS &amp; DISCUSSIONS: PERFORMANCE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8412480" cy="1828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217920"/>
            <a:ext cx="8412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B4B4"/>
                </a:solidFill>
              </a:defRPr>
            </a:pPr>
            <a:r>
              <a:t>20 September 2026</a:t>
            </a:r>
          </a:p>
          <a:p>
            <a:pPr algn="ctr">
              <a:defRPr sz="900">
                <a:solidFill>
                  <a:srgbClr val="B4B4B4"/>
                </a:solidFill>
              </a:defRPr>
            </a:pPr>
            <a:r>
              <a:t>School of Computing - CSE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1B365D"/>
                </a:solidFill>
              </a:defRPr>
            </a:pPr>
            <a:r>
              <a:t>Sample Candidate Performance Summary (Session #1001 - Charan):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102C57"/>
                </a:solidFill>
              </a:rPr>
              <a:t>•  Overall Score: </a:t>
            </a:r>
            <a:r>
              <a:rPr sz="1200">
                <a:solidFill>
                  <a:srgbClr val="282828"/>
                </a:solidFill>
              </a:rPr>
              <a:t>78%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102C57"/>
                </a:solidFill>
              </a:rPr>
              <a:t>•  Technical Knowledge: </a:t>
            </a:r>
            <a:r>
              <a:rPr sz="1200">
                <a:solidFill>
                  <a:srgbClr val="282828"/>
                </a:solidFill>
              </a:rPr>
              <a:t>8 / 10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102C57"/>
                </a:solidFill>
              </a:rPr>
              <a:t>•  Answer Quality: </a:t>
            </a:r>
            <a:r>
              <a:rPr sz="1200">
                <a:solidFill>
                  <a:srgbClr val="282828"/>
                </a:solidFill>
              </a:rPr>
              <a:t>7 / 10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102C57"/>
                </a:solidFill>
              </a:rPr>
              <a:t>•  Communication: </a:t>
            </a:r>
            <a:r>
              <a:rPr sz="1200">
                <a:solidFill>
                  <a:srgbClr val="282828"/>
                </a:solidFill>
              </a:rPr>
              <a:t>8 / 10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102C57"/>
                </a:solidFill>
              </a:rPr>
              <a:t>•  Identified Strengths: </a:t>
            </a:r>
            <a:r>
              <a:rPr sz="1200">
                <a:solidFill>
                  <a:srgbClr val="282828"/>
                </a:solidFill>
              </a:rPr>
              <a:t>Good Python fundamentals, relevant responses, solid grasp of basic syntax.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102C57"/>
                </a:solidFill>
              </a:rPr>
              <a:t>•  Areas to Improve: </a:t>
            </a:r>
            <a:r>
              <a:rPr sz="1200">
                <a:solidFill>
                  <a:srgbClr val="282828"/>
                </a:solidFill>
              </a:rPr>
              <a:t>Data structures depth, detailed technical explanations, structured formatting.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102C57"/>
                </a:solidFill>
              </a:rPr>
              <a:t>•  Training Action Plan: </a:t>
            </a:r>
            <a:r>
              <a:rPr sz="1200">
                <a:solidFill>
                  <a:srgbClr val="282828"/>
                </a:solidFill>
              </a:rPr>
              <a:t>1. Practice Python data structures (Lists, Tuples, Dicts, Sets).
2. Practice explaining concepts with practical code examples.
3. Take follow-up mock interview.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190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400">
                <a:solidFill>
                  <a:srgbClr val="1B365D"/>
                </a:solidFill>
              </a:defRPr>
            </a:pPr>
            <a:r>
              <a:t>RESULTS &amp; DISCUSSIONS: PROGRESS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8412480" cy="1828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217920"/>
            <a:ext cx="8412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B4B4"/>
                </a:solidFill>
              </a:defRPr>
            </a:pPr>
            <a:r>
              <a:t>20 September 2026</a:t>
            </a:r>
          </a:p>
          <a:p>
            <a:pPr algn="ctr">
              <a:defRPr sz="900">
                <a:solidFill>
                  <a:srgbClr val="B4B4B4"/>
                </a:solidFill>
              </a:defRPr>
            </a:pPr>
            <a:r>
              <a:t>School of Computing - CSE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B365D"/>
                </a:solidFill>
              </a:defRPr>
            </a:pPr>
            <a:r>
              <a:t>Continuous Learning &amp; Progress Tracking: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• Candidate Attempt Progress over successive practice sessions: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    - Attempt 1: 62% - Initial Baseline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    - Attempt 2: 70% - Improved Basics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    - Attempt 3: 78% - Better Explanation Structure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    - Attempt 4: 84% - Target Proficiency Reached</a:t>
            </a:r>
          </a:p>
          <a:p>
            <a:br/>
            <a:pPr>
              <a:defRPr b="1" sz="1300">
                <a:solidFill>
                  <a:srgbClr val="1B365D"/>
                </a:solidFill>
              </a:defRPr>
            </a:pPr>
            <a:r>
              <a:t>• Analytics Insights: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    - Best Score Achieved: 84%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    - Strongest Technical Area: Python Fundamentals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    - Focus Area for Further Practice: Advanced Data Structures &amp; Memory Management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190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400">
                <a:solidFill>
                  <a:srgbClr val="1B365D"/>
                </a:solidFill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8412480" cy="1828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217920"/>
            <a:ext cx="8412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B4B4"/>
                </a:solidFill>
              </a:defRPr>
            </a:pPr>
            <a:r>
              <a:t>20 September 2026</a:t>
            </a:r>
          </a:p>
          <a:p>
            <a:pPr algn="ctr">
              <a:defRPr sz="900">
                <a:solidFill>
                  <a:srgbClr val="B4B4B4"/>
                </a:solidFill>
              </a:defRPr>
            </a:pPr>
            <a:r>
              <a:t>School of Computing - CSE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300">
                <a:solidFill>
                  <a:srgbClr val="1B365D"/>
                </a:solidFill>
              </a:rPr>
              <a:t>•  Project Summary:
   </a:t>
            </a:r>
            <a:r>
              <a:rPr sz="1200">
                <a:solidFill>
                  <a:srgbClr val="282828"/>
                </a:solidFill>
              </a:rPr>
              <a:t>Successfully developed a fully functional, local AI Interview Coach Agent combining Streamlit UI, Ollama LLM, SQLite storage, and Speech-to-Text audio processing.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B365D"/>
                </a:solidFill>
              </a:rPr>
              <a:t>•  Key Contribution:
   </a:t>
            </a:r>
            <a:r>
              <a:rPr sz="1200">
                <a:solidFill>
                  <a:srgbClr val="282828"/>
                </a:solidFill>
              </a:rPr>
              <a:t>Provides students with an accessible, zero-cost, privacy-preserving mock interview coach that delivers personalized multi-criteria feedback and actionable training suggestions.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B365D"/>
                </a:solidFill>
              </a:rPr>
              <a:t>•  System Strengths:
   </a:t>
            </a:r>
            <a:r>
              <a:rPr sz="1200">
                <a:solidFill>
                  <a:srgbClr val="282828"/>
                </a:solidFill>
              </a:rPr>
              <a:t>100% local execution, real-time voice response evaluation, continuous progress tracking, and interactive user experience.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B365D"/>
                </a:solidFill>
              </a:rPr>
              <a:t>•  Future Enhancements:
   </a:t>
            </a:r>
            <a:r>
              <a:rPr sz="1200">
                <a:solidFill>
                  <a:srgbClr val="282828"/>
                </a:solidFill>
              </a:rPr>
              <a:t>1. Implement Text-to-Speech (TTS) for voice-spoken questions.
2. Optional Computer Vision features (facial presence, eye tracking, attention cues).
3. Expand multi-domain question repositories and mock coding environments.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190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400">
                <a:solidFill>
                  <a:srgbClr val="1B365D"/>
                </a:solidFill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8412480" cy="1828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217920"/>
            <a:ext cx="8412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B4B4"/>
                </a:solidFill>
              </a:defRPr>
            </a:pPr>
            <a:r>
              <a:t>20 September 2026</a:t>
            </a:r>
          </a:p>
          <a:p>
            <a:pPr algn="ctr">
              <a:defRPr sz="900">
                <a:solidFill>
                  <a:srgbClr val="B4B4B4"/>
                </a:solidFill>
              </a:defRPr>
            </a:pPr>
            <a:r>
              <a:t>School of Computing - CSE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200">
                <a:solidFill>
                  <a:srgbClr val="282828"/>
                </a:solidFill>
              </a:defRPr>
            </a:pPr>
            <a:r>
              <a:t>[1] Streamlit Inc., "Streamlit Documentation and Web Application Framework," 2024. [Online]. Available: https://docs.streamlit.io</a:t>
            </a:r>
          </a:p>
          <a:p>
            <a:pPr>
              <a:spcAft>
                <a:spcPts val="1400"/>
              </a:spcAft>
              <a:defRPr sz="1200">
                <a:solidFill>
                  <a:srgbClr val="282828"/>
                </a:solidFill>
              </a:defRPr>
            </a:pPr>
            <a:r>
              <a:t>[2] Ollama Team, "Ollama: Get up and running with Llama 3, Mistral, and other large language models locally," 2024. [Online]. Available: https://ollama.com</a:t>
            </a:r>
          </a:p>
          <a:p>
            <a:pPr>
              <a:spcAft>
                <a:spcPts val="1400"/>
              </a:spcAft>
              <a:defRPr sz="1200">
                <a:solidFill>
                  <a:srgbClr val="282828"/>
                </a:solidFill>
              </a:defRPr>
            </a:pPr>
            <a:r>
              <a:t>[3] SQLite Development Team, "SQLite Database Engine Official Documentation and Python Integration Guide," 2024. [Online]. Available: https://sqlite.org</a:t>
            </a:r>
          </a:p>
          <a:p>
            <a:pPr>
              <a:spcAft>
                <a:spcPts val="1400"/>
              </a:spcAft>
              <a:defRPr sz="1200">
                <a:solidFill>
                  <a:srgbClr val="282828"/>
                </a:solidFill>
              </a:defRPr>
            </a:pPr>
            <a:r>
              <a:t>[4] Python Software Foundation, "SpeechRecognition Library and Audio Processing in Python Environment," Python 3.10+ Documentation, 2024.</a:t>
            </a:r>
          </a:p>
          <a:p>
            <a:pPr>
              <a:spcAft>
                <a:spcPts val="1400"/>
              </a:spcAft>
              <a:defRPr sz="1200">
                <a:solidFill>
                  <a:srgbClr val="282828"/>
                </a:solidFill>
              </a:defRPr>
            </a:pPr>
            <a:r>
              <a:t>[5] Vaswani et al., "Attention Is All You Need," Advances in Neural Information Processing Systems (NeurIPS), 2017.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190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400">
                <a:solidFill>
                  <a:srgbClr val="1B365D"/>
                </a:solidFill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8412480" cy="1828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217920"/>
            <a:ext cx="8412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4B4B4"/>
                </a:solidFill>
              </a:defRPr>
            </a:pPr>
            <a:r>
              <a:t>20 September 2026</a:t>
            </a:r>
          </a:p>
          <a:p>
            <a:pPr algn="ctr">
              <a:defRPr sz="900">
                <a:solidFill>
                  <a:srgbClr val="B4B4B4"/>
                </a:solidFill>
              </a:defRPr>
            </a:pPr>
            <a:r>
              <a:t>School of Computing - CSE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2636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4B4"/>
                </a:solidFill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2000" b="1">
                <a:solidFill>
                  <a:srgbClr val="1B365D"/>
                </a:solidFill>
              </a:defRPr>
            </a:pPr>
            <a:r>
              <a:t>We thank God, Our Department, Guide, Panel Members, Supportive Professors and all Technical and non Technical staff who helped us in our 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