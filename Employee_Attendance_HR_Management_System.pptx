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1371600"/>
          </a:xfrm>
          <a:prstGeom prst="rect">
            <a:avLst/>
          </a:prstGeom>
          <a:noFill/>
        </p:spPr>
        <p:txBody>
          <a:bodyPr wrap="square" tIns="0" bIns="0" lIns="0" rIns="0">
            <a:spAutoFit/>
          </a:bodyPr>
          <a:lstStyle/>
          <a:p>
            <a:pPr algn="ctr">
              <a:defRPr b="1" sz="2800">
                <a:solidFill>
                  <a:srgbClr val="B41E1E"/>
                </a:solidFill>
              </a:defRPr>
            </a:pPr>
            <a:r>
              <a:t>SATHYABAMA</a:t>
            </a:r>
          </a:p>
          <a:p>
            <a:pPr algn="ctr">
              <a:defRPr b="1" sz="1200">
                <a:solidFill>
                  <a:srgbClr val="B41E1E"/>
                </a:solidFill>
              </a:defRPr>
            </a:pPr>
            <a:r>
              <a:t>INSTITUTE OF SCIENCE AND TECHNOLOGY</a:t>
            </a:r>
            <a:br/>
            <a:r>
              <a:t>(DEEMED TO BE UNIVERSITY)</a:t>
            </a:r>
          </a:p>
          <a:p>
            <a:pPr algn="ctr">
              <a:defRPr sz="900">
                <a:solidFill>
                  <a:srgbClr val="102C57"/>
                </a:solidFill>
              </a:defRPr>
            </a:pPr>
            <a:r>
              <a:t>CATEGORY - 1 UNIVERSITY BY UGC</a:t>
            </a:r>
            <a:br/>
            <a:r>
              <a:t>Accredited with 'A++' grade by NAAC | Approved by AICTE</a:t>
            </a:r>
            <a:br/>
            <a:r>
              <a:t>www.sathyabama.ac.in</a:t>
            </a:r>
          </a:p>
        </p:txBody>
      </p:sp>
      <p:sp>
        <p:nvSpPr>
          <p:cNvPr id="4" name="Rectangle 3"/>
          <p:cNvSpPr/>
          <p:nvPr/>
        </p:nvSpPr>
        <p:spPr>
          <a:xfrm>
            <a:off x="365760" y="1828800"/>
            <a:ext cx="8412480" cy="18288"/>
          </a:xfrm>
          <a:prstGeom prst="rect">
            <a:avLst/>
          </a:prstGeom>
          <a:solidFill>
            <a:srgbClr val="B4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1</a:t>
            </a:r>
          </a:p>
        </p:txBody>
      </p:sp>
      <p:sp>
        <p:nvSpPr>
          <p:cNvPr id="9" name="TextBox 8"/>
          <p:cNvSpPr txBox="1"/>
          <p:nvPr/>
        </p:nvSpPr>
        <p:spPr>
          <a:xfrm>
            <a:off x="457200" y="2011680"/>
            <a:ext cx="8229600" cy="2286000"/>
          </a:xfrm>
          <a:prstGeom prst="rect">
            <a:avLst/>
          </a:prstGeom>
          <a:noFill/>
        </p:spPr>
        <p:txBody>
          <a:bodyPr wrap="square">
            <a:spAutoFit/>
          </a:bodyPr>
          <a:lstStyle/>
          <a:p>
            <a:pPr algn="ctr">
              <a:defRPr b="1" sz="1700">
                <a:solidFill>
                  <a:srgbClr val="102C57"/>
                </a:solidFill>
              </a:defRPr>
            </a:pPr>
            <a:r>
              <a:t>DEPARTMENT OF COMPUTER SCIENCE AND ENGINEERING</a:t>
            </a:r>
          </a:p>
          <a:p>
            <a:pPr algn="ctr">
              <a:defRPr b="1" sz="1400">
                <a:solidFill>
                  <a:srgbClr val="1E1E1E"/>
                </a:solidFill>
              </a:defRPr>
            </a:pPr>
            <a:r>
              <a:t>Professional Training I</a:t>
            </a:r>
          </a:p>
          <a:p>
            <a:br/>
            <a:pPr algn="ctr">
              <a:defRPr b="1" sz="2400">
                <a:solidFill>
                  <a:srgbClr val="102C57"/>
                </a:solidFill>
              </a:defRPr>
            </a:pPr>
            <a:r>
              <a:t>Employee Attendance &amp; HR Management System</a:t>
            </a:r>
          </a:p>
        </p:txBody>
      </p:sp>
      <p:sp>
        <p:nvSpPr>
          <p:cNvPr id="10" name="TextBox 9"/>
          <p:cNvSpPr txBox="1"/>
          <p:nvPr/>
        </p:nvSpPr>
        <p:spPr>
          <a:xfrm>
            <a:off x="548640" y="4572000"/>
            <a:ext cx="3840480" cy="1463040"/>
          </a:xfrm>
          <a:prstGeom prst="rect">
            <a:avLst/>
          </a:prstGeom>
          <a:noFill/>
        </p:spPr>
        <p:txBody>
          <a:bodyPr wrap="square">
            <a:spAutoFit/>
          </a:bodyPr>
          <a:lstStyle/>
          <a:p>
            <a:pPr>
              <a:defRPr b="1" sz="1300">
                <a:solidFill>
                  <a:srgbClr val="102C57"/>
                </a:solidFill>
              </a:defRPr>
            </a:pPr>
            <a:r>
              <a:t>PROJECT STUDENT</a:t>
            </a:r>
          </a:p>
          <a:p>
            <a:pPr>
              <a:defRPr b="1" sz="1200">
                <a:solidFill>
                  <a:srgbClr val="1E1E1E"/>
                </a:solidFill>
              </a:defRPr>
            </a:pPr>
            <a:r>
              <a:t>NAGABHIRU YASHWANTH SAI, 44111243</a:t>
            </a:r>
          </a:p>
          <a:p>
            <a:pPr>
              <a:defRPr sz="1100">
                <a:solidFill>
                  <a:srgbClr val="1E1E1E"/>
                </a:solidFill>
              </a:defRPr>
            </a:pPr>
            <a:r>
              <a:t>CSE</a:t>
            </a:r>
          </a:p>
        </p:txBody>
      </p:sp>
      <p:sp>
        <p:nvSpPr>
          <p:cNvPr id="11" name="TextBox 10"/>
          <p:cNvSpPr txBox="1"/>
          <p:nvPr/>
        </p:nvSpPr>
        <p:spPr>
          <a:xfrm>
            <a:off x="4572000" y="4572000"/>
            <a:ext cx="4023360" cy="1463040"/>
          </a:xfrm>
          <a:prstGeom prst="rect">
            <a:avLst/>
          </a:prstGeom>
          <a:noFill/>
        </p:spPr>
        <p:txBody>
          <a:bodyPr wrap="square">
            <a:spAutoFit/>
          </a:bodyPr>
          <a:lstStyle/>
          <a:p>
            <a:pPr>
              <a:defRPr b="1" sz="1300">
                <a:solidFill>
                  <a:srgbClr val="102C57"/>
                </a:solidFill>
              </a:defRPr>
            </a:pPr>
            <a:r>
              <a:t>GUIDE</a:t>
            </a:r>
          </a:p>
          <a:p>
            <a:pPr>
              <a:defRPr b="1" sz="1200">
                <a:solidFill>
                  <a:srgbClr val="1E1E1E"/>
                </a:solidFill>
              </a:defRPr>
            </a:pPr>
            <a:r>
              <a:t>Ms. R. Velvizhi,</a:t>
            </a:r>
          </a:p>
          <a:p>
            <a:pPr>
              <a:defRPr sz="1100">
                <a:solidFill>
                  <a:srgbClr val="1E1E1E"/>
                </a:solidFill>
              </a:defRPr>
            </a:pPr>
            <a:r>
              <a:t>Assistant Professor, CSE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AGENDA</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2</a:t>
            </a:r>
          </a:p>
        </p:txBody>
      </p:sp>
      <p:sp>
        <p:nvSpPr>
          <p:cNvPr id="9" name="TextBox 8"/>
          <p:cNvSpPr txBox="1"/>
          <p:nvPr/>
        </p:nvSpPr>
        <p:spPr>
          <a:xfrm>
            <a:off x="1371600" y="1463040"/>
            <a:ext cx="6400800" cy="4572000"/>
          </a:xfrm>
          <a:prstGeom prst="rect">
            <a:avLst/>
          </a:prstGeom>
          <a:noFill/>
        </p:spPr>
        <p:txBody>
          <a:bodyPr wrap="square">
            <a:spAutoFit/>
          </a:bodyPr>
          <a:lstStyle/>
          <a:p>
            <a:pPr>
              <a:spcAft>
                <a:spcPts val="1000"/>
              </a:spcAft>
              <a:defRPr sz="1800">
                <a:solidFill>
                  <a:srgbClr val="1E1E1E"/>
                </a:solidFill>
              </a:defRPr>
            </a:pPr>
            <a:r>
              <a:t>•   Certificate</a:t>
            </a:r>
          </a:p>
          <a:p>
            <a:pPr>
              <a:spcAft>
                <a:spcPts val="1000"/>
              </a:spcAft>
              <a:defRPr sz="1800">
                <a:solidFill>
                  <a:srgbClr val="1E1E1E"/>
                </a:solidFill>
              </a:defRPr>
            </a:pPr>
            <a:r>
              <a:t>•   Abstract</a:t>
            </a:r>
          </a:p>
          <a:p>
            <a:pPr>
              <a:spcAft>
                <a:spcPts val="1000"/>
              </a:spcAft>
              <a:defRPr sz="1800">
                <a:solidFill>
                  <a:srgbClr val="1E1E1E"/>
                </a:solidFill>
              </a:defRPr>
            </a:pPr>
            <a:r>
              <a:t>•   Introduction</a:t>
            </a:r>
          </a:p>
          <a:p>
            <a:pPr>
              <a:spcAft>
                <a:spcPts val="1000"/>
              </a:spcAft>
              <a:defRPr sz="1800">
                <a:solidFill>
                  <a:srgbClr val="1E1E1E"/>
                </a:solidFill>
              </a:defRPr>
            </a:pPr>
            <a:r>
              <a:t>•   Objective</a:t>
            </a:r>
          </a:p>
          <a:p>
            <a:pPr>
              <a:spcAft>
                <a:spcPts val="1000"/>
              </a:spcAft>
              <a:defRPr sz="1800">
                <a:solidFill>
                  <a:srgbClr val="1E1E1E"/>
                </a:solidFill>
              </a:defRPr>
            </a:pPr>
            <a:r>
              <a:t>•   System Architecture / Ideation Map</a:t>
            </a:r>
          </a:p>
          <a:p>
            <a:pPr>
              <a:spcAft>
                <a:spcPts val="1000"/>
              </a:spcAft>
              <a:defRPr sz="1800">
                <a:solidFill>
                  <a:srgbClr val="1E1E1E"/>
                </a:solidFill>
              </a:defRPr>
            </a:pPr>
            <a:r>
              <a:t>•   Module Implementation</a:t>
            </a:r>
          </a:p>
          <a:p>
            <a:pPr>
              <a:spcAft>
                <a:spcPts val="1000"/>
              </a:spcAft>
              <a:defRPr sz="1800">
                <a:solidFill>
                  <a:srgbClr val="1E1E1E"/>
                </a:solidFill>
              </a:defRPr>
            </a:pPr>
            <a:r>
              <a:t>•   Results and Discussions</a:t>
            </a:r>
          </a:p>
          <a:p>
            <a:pPr>
              <a:spcAft>
                <a:spcPts val="1000"/>
              </a:spcAft>
              <a:defRPr sz="1800">
                <a:solidFill>
                  <a:srgbClr val="1E1E1E"/>
                </a:solidFill>
              </a:defRPr>
            </a:pPr>
            <a:r>
              <a:t>•   Conclusion</a:t>
            </a:r>
          </a:p>
          <a:p>
            <a:pPr>
              <a:spcAft>
                <a:spcPts val="1000"/>
              </a:spcAft>
              <a:defRPr sz="1800">
                <a:solidFill>
                  <a:srgbClr val="1E1E1E"/>
                </a:solidFill>
              </a:defRPr>
            </a:pPr>
            <a:r>
              <a:t>•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COURSE CERTIFICATE</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3</a:t>
            </a:r>
          </a:p>
        </p:txBody>
      </p:sp>
      <p:sp>
        <p:nvSpPr>
          <p:cNvPr id="9" name="Rectangle 8"/>
          <p:cNvSpPr/>
          <p:nvPr/>
        </p:nvSpPr>
        <p:spPr>
          <a:xfrm>
            <a:off x="1371600" y="1645920"/>
            <a:ext cx="6400800" cy="411480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Abstract</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4</a:t>
            </a:r>
          </a:p>
        </p:txBody>
      </p:sp>
      <p:sp>
        <p:nvSpPr>
          <p:cNvPr id="9" name="TextBox 8"/>
          <p:cNvSpPr txBox="1"/>
          <p:nvPr/>
        </p:nvSpPr>
        <p:spPr>
          <a:xfrm>
            <a:off x="548640" y="1371600"/>
            <a:ext cx="8046720" cy="4572000"/>
          </a:xfrm>
          <a:prstGeom prst="rect">
            <a:avLst/>
          </a:prstGeom>
          <a:noFill/>
        </p:spPr>
        <p:txBody>
          <a:bodyPr wrap="square">
            <a:spAutoFit/>
          </a:bodyPr>
          <a:lstStyle/>
          <a:p>
            <a:pPr>
              <a:lnSpc>
                <a:spcPct val="135000"/>
              </a:lnSpc>
              <a:defRPr sz="1500">
                <a:solidFill>
                  <a:srgbClr val="1E1E1E"/>
                </a:solidFill>
              </a:defRPr>
            </a:pPr>
            <a:r>
              <a:t>The Employee Attendance &amp; HR Management System is a cloud-based application designed to simplify employee and human resource activities. It provides features such as employee registration, secure login, attendance tracking, leave management, employee records, and report generation. The application is deployed on AWS EC2 for reliable access and operation. Amazon RDS stores employee and attendance data, while Amazon S3 securely stores documents and files. IAM and VPC provide access control and network security. Elastic Load Balancer and Auto Scaling improve availability and scalability. CloudWatch monitors system performance and resource usage. The proposed system provides a secure, reliable, scalable, and efficient solution for modern employee attendance and HR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Introduction</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5</a:t>
            </a:r>
          </a:p>
        </p:txBody>
      </p:sp>
      <p:sp>
        <p:nvSpPr>
          <p:cNvPr id="9" name="TextBox 8"/>
          <p:cNvSpPr txBox="1"/>
          <p:nvPr/>
        </p:nvSpPr>
        <p:spPr>
          <a:xfrm>
            <a:off x="548640" y="1371600"/>
            <a:ext cx="8046720" cy="4572000"/>
          </a:xfrm>
          <a:prstGeom prst="rect">
            <a:avLst/>
          </a:prstGeom>
          <a:noFill/>
        </p:spPr>
        <p:txBody>
          <a:bodyPr wrap="square">
            <a:spAutoFit/>
          </a:bodyPr>
          <a:lstStyle/>
          <a:p>
            <a:pPr>
              <a:lnSpc>
                <a:spcPct val="125000"/>
              </a:lnSpc>
              <a:spcAft>
                <a:spcPts val="1600"/>
              </a:spcAft>
              <a:defRPr sz="1500">
                <a:solidFill>
                  <a:srgbClr val="1E1E1E"/>
                </a:solidFill>
              </a:defRPr>
            </a:pPr>
            <a:r>
              <a:t>•  Employee attendance and HR management are essential for maintaining accurate employee records and organizational efficiency.</a:t>
            </a:r>
          </a:p>
          <a:p>
            <a:pPr>
              <a:lnSpc>
                <a:spcPct val="125000"/>
              </a:lnSpc>
              <a:spcAft>
                <a:spcPts val="1600"/>
              </a:spcAft>
              <a:defRPr sz="1500">
                <a:solidFill>
                  <a:srgbClr val="1E1E1E"/>
                </a:solidFill>
              </a:defRPr>
            </a:pPr>
            <a:r>
              <a:t>•  Manual attendance and HR processes are time-consuming and can lead to errors.</a:t>
            </a:r>
          </a:p>
          <a:p>
            <a:pPr>
              <a:lnSpc>
                <a:spcPct val="125000"/>
              </a:lnSpc>
              <a:spcAft>
                <a:spcPts val="1600"/>
              </a:spcAft>
              <a:defRPr sz="1500">
                <a:solidFill>
                  <a:srgbClr val="1E1E1E"/>
                </a:solidFill>
              </a:defRPr>
            </a:pPr>
            <a:r>
              <a:t>•  The proposed system provides digital features for attendance, employee records, leave management, and report generation.</a:t>
            </a:r>
          </a:p>
          <a:p>
            <a:pPr>
              <a:lnSpc>
                <a:spcPct val="125000"/>
              </a:lnSpc>
              <a:spcAft>
                <a:spcPts val="1600"/>
              </a:spcAft>
              <a:defRPr sz="1500">
                <a:solidFill>
                  <a:srgbClr val="1E1E1E"/>
                </a:solidFill>
              </a:defRPr>
            </a:pPr>
            <a:r>
              <a:t>•  The application is deployed on AWS EC2, with RDS, S3, IAM, VPC, ELB, Auto Scaling, and CloudWatch supporting storage, security, scalability, and monitoring.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Objective</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6</a:t>
            </a:r>
          </a:p>
        </p:txBody>
      </p:sp>
      <p:sp>
        <p:nvSpPr>
          <p:cNvPr id="9" name="TextBox 8"/>
          <p:cNvSpPr txBox="1"/>
          <p:nvPr/>
        </p:nvSpPr>
        <p:spPr>
          <a:xfrm>
            <a:off x="548640" y="1371600"/>
            <a:ext cx="8046720" cy="4572000"/>
          </a:xfrm>
          <a:prstGeom prst="rect">
            <a:avLst/>
          </a:prstGeom>
          <a:noFill/>
        </p:spPr>
        <p:txBody>
          <a:bodyPr wrap="square">
            <a:spAutoFit/>
          </a:bodyPr>
          <a:lstStyle/>
          <a:p>
            <a:pPr>
              <a:lnSpc>
                <a:spcPct val="125000"/>
              </a:lnSpc>
              <a:spcAft>
                <a:spcPts val="1400"/>
              </a:spcAft>
              <a:defRPr sz="1500">
                <a:solidFill>
                  <a:srgbClr val="1E1E1E"/>
                </a:solidFill>
              </a:defRPr>
            </a:pPr>
            <a:r>
              <a:t>•  To develop a centralized Employee Attendance and HR Management System.</a:t>
            </a:r>
          </a:p>
          <a:p>
            <a:pPr>
              <a:lnSpc>
                <a:spcPct val="125000"/>
              </a:lnSpc>
              <a:spcAft>
                <a:spcPts val="1400"/>
              </a:spcAft>
              <a:defRPr sz="1500">
                <a:solidFill>
                  <a:srgbClr val="1E1E1E"/>
                </a:solidFill>
              </a:defRPr>
            </a:pPr>
            <a:r>
              <a:t>•  To automate employee attendance, leave, and record management.</a:t>
            </a:r>
          </a:p>
          <a:p>
            <a:pPr>
              <a:lnSpc>
                <a:spcPct val="125000"/>
              </a:lnSpc>
              <a:spcAft>
                <a:spcPts val="1400"/>
              </a:spcAft>
              <a:defRPr sz="1500">
                <a:solidFill>
                  <a:srgbClr val="1E1E1E"/>
                </a:solidFill>
              </a:defRPr>
            </a:pPr>
            <a:r>
              <a:t>•  To securely store employee data using cloud database services.</a:t>
            </a:r>
          </a:p>
          <a:p>
            <a:pPr>
              <a:lnSpc>
                <a:spcPct val="125000"/>
              </a:lnSpc>
              <a:spcAft>
                <a:spcPts val="1400"/>
              </a:spcAft>
              <a:defRPr sz="1500">
                <a:solidFill>
                  <a:srgbClr val="1E1E1E"/>
                </a:solidFill>
              </a:defRPr>
            </a:pPr>
            <a:r>
              <a:t>•  To deploy the application on AWS EC2 with scalability and high availability.</a:t>
            </a:r>
          </a:p>
          <a:p>
            <a:pPr>
              <a:lnSpc>
                <a:spcPct val="125000"/>
              </a:lnSpc>
              <a:spcAft>
                <a:spcPts val="1400"/>
              </a:spcAft>
              <a:defRPr sz="1500">
                <a:solidFill>
                  <a:srgbClr val="1E1E1E"/>
                </a:solidFill>
              </a:defRPr>
            </a:pPr>
            <a:r>
              <a:t>•  To monitor and manage AWS resources using IAM, VPC, ELB, Auto Scaling, and CloudWatch.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System Architecture / Ideation Map</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7</a:t>
            </a:r>
          </a:p>
        </p:txBody>
      </p:sp>
      <p:sp>
        <p:nvSpPr>
          <p:cNvPr id="9" name="Rounded Rectangle 8"/>
          <p:cNvSpPr/>
          <p:nvPr/>
        </p:nvSpPr>
        <p:spPr>
          <a:xfrm>
            <a:off x="2011680" y="1280160"/>
            <a:ext cx="5120640" cy="457200"/>
          </a:xfrm>
          <a:prstGeom prst="round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00">
                <a:solidFill>
                  <a:srgbClr val="FFFFFF"/>
                </a:solidFill>
              </a:defRPr>
            </a:pPr>
            <a:r>
              <a:t>Employee Attendance &amp; HR Management System</a:t>
            </a:r>
            <a:br/>
            <a:r>
              <a:t>System Architecture / Ideation Map</a:t>
            </a:r>
          </a:p>
        </p:txBody>
      </p:sp>
      <p:sp>
        <p:nvSpPr>
          <p:cNvPr id="10" name="Rounded Rectangle 9"/>
          <p:cNvSpPr/>
          <p:nvPr/>
        </p:nvSpPr>
        <p:spPr>
          <a:xfrm>
            <a:off x="457200" y="1920240"/>
            <a:ext cx="1463040" cy="2926080"/>
          </a:xfrm>
          <a:prstGeom prst="roundRect">
            <a:avLst/>
          </a:prstGeom>
          <a:solidFill>
            <a:srgbClr val="F0F4F8"/>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02C57"/>
                </a:solidFill>
              </a:defRPr>
            </a:pPr>
            <a:r>
              <a:t>USERS</a:t>
            </a:r>
            <a:br/>
          </a:p>
          <a:p>
            <a:pPr>
              <a:defRPr sz="900">
                <a:solidFill>
                  <a:srgbClr val="1E1E1E"/>
                </a:solidFill>
              </a:defRPr>
            </a:pPr>
            <a:r>
              <a:t>• Admin</a:t>
            </a:r>
            <a:br/>
            <a:r>
              <a:t>  (Manage System)</a:t>
            </a:r>
          </a:p>
          <a:p>
            <a:pPr>
              <a:defRPr sz="900">
                <a:solidFill>
                  <a:srgbClr val="1E1E1E"/>
                </a:solidFill>
              </a:defRPr>
            </a:pPr>
            <a:r>
              <a:t>• HR</a:t>
            </a:r>
            <a:br/>
            <a:r>
              <a:t>  (Manage Employees)</a:t>
            </a:r>
          </a:p>
          <a:p>
            <a:pPr>
              <a:defRPr sz="900">
                <a:solidFill>
                  <a:srgbClr val="1E1E1E"/>
                </a:solidFill>
              </a:defRPr>
            </a:pPr>
            <a:r>
              <a:t>• Employee</a:t>
            </a:r>
            <a:br/>
            <a:r>
              <a:t>  (Attendance / Leave)</a:t>
            </a:r>
          </a:p>
          <a:p>
            <a:pPr>
              <a:defRPr sz="900">
                <a:solidFill>
                  <a:srgbClr val="1E1E1E"/>
                </a:solidFill>
              </a:defRPr>
            </a:pPr>
            <a:r>
              <a:t>• Others</a:t>
            </a:r>
            <a:br/>
            <a:r>
              <a:t>  (View Reports)</a:t>
            </a:r>
          </a:p>
        </p:txBody>
      </p:sp>
      <p:sp>
        <p:nvSpPr>
          <p:cNvPr id="11" name="Oval 10"/>
          <p:cNvSpPr/>
          <p:nvPr/>
        </p:nvSpPr>
        <p:spPr>
          <a:xfrm>
            <a:off x="2057400" y="3017520"/>
            <a:ext cx="731520" cy="731520"/>
          </a:xfrm>
          <a:prstGeom prst="ellipse">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Internet</a:t>
            </a:r>
          </a:p>
        </p:txBody>
      </p:sp>
      <p:sp>
        <p:nvSpPr>
          <p:cNvPr id="12" name="Rounded Rectangle 11"/>
          <p:cNvSpPr/>
          <p:nvPr/>
        </p:nvSpPr>
        <p:spPr>
          <a:xfrm>
            <a:off x="2926080" y="1920240"/>
            <a:ext cx="4206240" cy="2926080"/>
          </a:xfrm>
          <a:prstGeom prst="roundRect">
            <a:avLst/>
          </a:prstGeom>
          <a:solidFill>
            <a:srgbClr val="FFFFFF"/>
          </a:solid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b="1" sz="1100">
                <a:solidFill>
                  <a:srgbClr val="102C57"/>
                </a:solidFill>
              </a:defRPr>
            </a:pPr>
            <a:r>
              <a:t>AWS Cloud (VPC Isolated Network)</a:t>
            </a:r>
          </a:p>
        </p:txBody>
      </p:sp>
      <p:sp>
        <p:nvSpPr>
          <p:cNvPr id="13" name="Rounded Rectangle 12"/>
          <p:cNvSpPr/>
          <p:nvPr/>
        </p:nvSpPr>
        <p:spPr>
          <a:xfrm>
            <a:off x="4114800" y="2286000"/>
            <a:ext cx="1828800" cy="365760"/>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Elastic Load Balancer</a:t>
            </a:r>
          </a:p>
        </p:txBody>
      </p:sp>
      <p:sp>
        <p:nvSpPr>
          <p:cNvPr id="14" name="Rounded Rectangle 13"/>
          <p:cNvSpPr/>
          <p:nvPr/>
        </p:nvSpPr>
        <p:spPr>
          <a:xfrm>
            <a:off x="3200400" y="2926080"/>
            <a:ext cx="1280160" cy="64008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FFFFFF"/>
                </a:solidFill>
              </a:defRPr>
            </a:pPr>
            <a:r>
              <a:t>EC2 Web Server</a:t>
            </a:r>
            <a:br/>
            <a:r>
              <a:t>(Zone 1)</a:t>
            </a:r>
          </a:p>
        </p:txBody>
      </p:sp>
      <p:sp>
        <p:nvSpPr>
          <p:cNvPr id="15" name="Rounded Rectangle 14"/>
          <p:cNvSpPr/>
          <p:nvPr/>
        </p:nvSpPr>
        <p:spPr>
          <a:xfrm>
            <a:off x="5669280" y="2926080"/>
            <a:ext cx="1280160" cy="64008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FFFFFF"/>
                </a:solidFill>
              </a:defRPr>
            </a:pPr>
            <a:r>
              <a:t>EC2 Web Server</a:t>
            </a:r>
            <a:br/>
            <a:r>
              <a:t>(Zone 2)</a:t>
            </a:r>
          </a:p>
        </p:txBody>
      </p:sp>
      <p:sp>
        <p:nvSpPr>
          <p:cNvPr id="16" name="Rectangle 15"/>
          <p:cNvSpPr/>
          <p:nvPr/>
        </p:nvSpPr>
        <p:spPr>
          <a:xfrm>
            <a:off x="4572000" y="3017520"/>
            <a:ext cx="1005840" cy="457200"/>
          </a:xfrm>
          <a:prstGeom prst="rect">
            <a:avLst/>
          </a:prstGeom>
          <a:solidFill>
            <a:srgbClr val="F0F4F8"/>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1E1E1E"/>
                </a:solidFill>
              </a:defRPr>
            </a:pPr>
            <a:r>
              <a:t>Auto Scaling</a:t>
            </a:r>
          </a:p>
        </p:txBody>
      </p:sp>
      <p:sp>
        <p:nvSpPr>
          <p:cNvPr id="17" name="Rounded Rectangle 16"/>
          <p:cNvSpPr/>
          <p:nvPr/>
        </p:nvSpPr>
        <p:spPr>
          <a:xfrm>
            <a:off x="3291840" y="3931920"/>
            <a:ext cx="1554480" cy="6400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a:solidFill>
                  <a:srgbClr val="FFFFFF"/>
                </a:solidFill>
              </a:defRPr>
            </a:pPr>
            <a:r>
              <a:t>Amazon RDS</a:t>
            </a:r>
            <a:br/>
            <a:r>
              <a:t>(Employee Database)</a:t>
            </a:r>
          </a:p>
        </p:txBody>
      </p:sp>
      <p:sp>
        <p:nvSpPr>
          <p:cNvPr id="18" name="Rounded Rectangle 17"/>
          <p:cNvSpPr/>
          <p:nvPr/>
        </p:nvSpPr>
        <p:spPr>
          <a:xfrm>
            <a:off x="5394960" y="3931920"/>
            <a:ext cx="1554480" cy="6400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a:solidFill>
                  <a:srgbClr val="FFFFFF"/>
                </a:solidFill>
              </a:defRPr>
            </a:pPr>
            <a:r>
              <a:t>Amazon S3</a:t>
            </a:r>
            <a:br/>
            <a:r>
              <a:t>(Document Storage)</a:t>
            </a:r>
          </a:p>
        </p:txBody>
      </p:sp>
      <p:sp>
        <p:nvSpPr>
          <p:cNvPr id="19" name="Rounded Rectangle 18"/>
          <p:cNvSpPr/>
          <p:nvPr/>
        </p:nvSpPr>
        <p:spPr>
          <a:xfrm>
            <a:off x="7315200" y="2103120"/>
            <a:ext cx="1371600" cy="1188720"/>
          </a:xfrm>
          <a:prstGeom prst="roundRect">
            <a:avLst/>
          </a:prstGeom>
          <a:solidFill>
            <a:srgbClr val="F0F4F8"/>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C0392B"/>
                </a:solidFill>
              </a:defRPr>
            </a:pPr>
            <a:r>
              <a:t>IAM</a:t>
            </a:r>
            <a:br/>
            <a:r>
              <a:t>Access Control &amp;</a:t>
            </a:r>
            <a:br/>
            <a:r>
              <a:t>Permissions</a:t>
            </a:r>
          </a:p>
        </p:txBody>
      </p:sp>
      <p:sp>
        <p:nvSpPr>
          <p:cNvPr id="20" name="Rounded Rectangle 19"/>
          <p:cNvSpPr/>
          <p:nvPr/>
        </p:nvSpPr>
        <p:spPr>
          <a:xfrm>
            <a:off x="7315200" y="3566160"/>
            <a:ext cx="1371600" cy="1188720"/>
          </a:xfrm>
          <a:prstGeom prst="roundRect">
            <a:avLst/>
          </a:prstGeom>
          <a:solidFill>
            <a:srgbClr val="F0F4F8"/>
          </a:solidFill>
          <a:ln>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8E44AD"/>
                </a:solidFill>
              </a:defRPr>
            </a:pPr>
            <a:r>
              <a:t>CloudWatch</a:t>
            </a:r>
            <a:br/>
            <a:r>
              <a:t>Monitoring &amp;</a:t>
            </a:r>
            <a:br/>
            <a:r>
              <a:t>System Logs</a:t>
            </a:r>
          </a:p>
        </p:txBody>
      </p:sp>
      <p:sp>
        <p:nvSpPr>
          <p:cNvPr id="21" name="Rounded Rectangle 20"/>
          <p:cNvSpPr/>
          <p:nvPr/>
        </p:nvSpPr>
        <p:spPr>
          <a:xfrm>
            <a:off x="457200" y="5029200"/>
            <a:ext cx="8229600" cy="822960"/>
          </a:xfrm>
          <a:prstGeom prst="roundRect">
            <a:avLst/>
          </a:prstGeom>
          <a:solidFill>
            <a:srgbClr val="F0F4F8"/>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02C57"/>
                </a:solidFill>
              </a:defRPr>
            </a:pPr>
            <a:r>
              <a:t>System Modules: Employee Registration | Secure Login | Attendance Tracking | Leave Management | Employee Records | Reports | Document Storage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Module Implementation</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8</a:t>
            </a:r>
          </a:p>
        </p:txBody>
      </p:sp>
      <p:sp>
        <p:nvSpPr>
          <p:cNvPr id="9" name="Rounded Rectangle 8"/>
          <p:cNvSpPr/>
          <p:nvPr/>
        </p:nvSpPr>
        <p:spPr>
          <a:xfrm>
            <a:off x="457200" y="1371600"/>
            <a:ext cx="1170432" cy="4389120"/>
          </a:xfrm>
          <a:prstGeom prst="roundRect">
            <a:avLst/>
          </a:prstGeom>
          <a:solidFill>
            <a:srgbClr val="F0F4F8"/>
          </a:solidFill>
          <a:ln w="1905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2980B9"/>
                </a:solidFill>
              </a:defRPr>
            </a:pPr>
            <a:r>
              <a:t>1. User Management</a:t>
            </a:r>
          </a:p>
          <a:p>
            <a:pPr>
              <a:spcAft>
                <a:spcPts val="400"/>
              </a:spcAft>
              <a:defRPr sz="800">
                <a:solidFill>
                  <a:srgbClr val="1E1E1E"/>
                </a:solidFill>
              </a:defRPr>
            </a:pPr>
            <a:r>
              <a:t>• User Registration</a:t>
            </a:r>
          </a:p>
          <a:p>
            <a:pPr>
              <a:spcAft>
                <a:spcPts val="400"/>
              </a:spcAft>
              <a:defRPr sz="800">
                <a:solidFill>
                  <a:srgbClr val="1E1E1E"/>
                </a:solidFill>
              </a:defRPr>
            </a:pPr>
            <a:r>
              <a:t>• Login / Logout</a:t>
            </a:r>
          </a:p>
          <a:p>
            <a:pPr>
              <a:spcAft>
                <a:spcPts val="400"/>
              </a:spcAft>
              <a:defRPr sz="800">
                <a:solidFill>
                  <a:srgbClr val="1E1E1E"/>
                </a:solidFill>
              </a:defRPr>
            </a:pPr>
            <a:r>
              <a:t>• Role-based Access</a:t>
            </a:r>
          </a:p>
          <a:p>
            <a:pPr>
              <a:spcAft>
                <a:spcPts val="400"/>
              </a:spcAft>
              <a:defRPr sz="800">
                <a:solidFill>
                  <a:srgbClr val="1E1E1E"/>
                </a:solidFill>
              </a:defRPr>
            </a:pPr>
            <a:r>
              <a:t>• Profile Management</a:t>
            </a:r>
          </a:p>
        </p:txBody>
      </p:sp>
      <p:sp>
        <p:nvSpPr>
          <p:cNvPr id="10" name="Rounded Rectangle 9"/>
          <p:cNvSpPr/>
          <p:nvPr/>
        </p:nvSpPr>
        <p:spPr>
          <a:xfrm>
            <a:off x="1664208" y="1371600"/>
            <a:ext cx="1170432" cy="4389120"/>
          </a:xfrm>
          <a:prstGeom prst="roundRect">
            <a:avLst/>
          </a:prstGeom>
          <a:solidFill>
            <a:srgbClr val="F0F4F8"/>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27AE60"/>
                </a:solidFill>
              </a:defRPr>
            </a:pPr>
            <a:r>
              <a:t>2. Attendance Tracking</a:t>
            </a:r>
          </a:p>
          <a:p>
            <a:pPr>
              <a:spcAft>
                <a:spcPts val="400"/>
              </a:spcAft>
              <a:defRPr sz="800">
                <a:solidFill>
                  <a:srgbClr val="1E1E1E"/>
                </a:solidFill>
              </a:defRPr>
            </a:pPr>
            <a:r>
              <a:t>• Check-in / Check-out</a:t>
            </a:r>
          </a:p>
          <a:p>
            <a:pPr>
              <a:spcAft>
                <a:spcPts val="400"/>
              </a:spcAft>
              <a:defRPr sz="800">
                <a:solidFill>
                  <a:srgbClr val="1E1E1E"/>
                </a:solidFill>
              </a:defRPr>
            </a:pPr>
            <a:r>
              <a:t>• View History</a:t>
            </a:r>
          </a:p>
          <a:p>
            <a:pPr>
              <a:spcAft>
                <a:spcPts val="400"/>
              </a:spcAft>
              <a:defRPr sz="800">
                <a:solidFill>
                  <a:srgbClr val="1E1E1E"/>
                </a:solidFill>
              </a:defRPr>
            </a:pPr>
            <a:r>
              <a:t>• Leave Balance Update</a:t>
            </a:r>
          </a:p>
          <a:p>
            <a:pPr>
              <a:spcAft>
                <a:spcPts val="400"/>
              </a:spcAft>
              <a:defRPr sz="800">
                <a:solidFill>
                  <a:srgbClr val="1E1E1E"/>
                </a:solidFill>
              </a:defRPr>
            </a:pPr>
            <a:r>
              <a:t>• Mark via Web/Mobile</a:t>
            </a:r>
          </a:p>
        </p:txBody>
      </p:sp>
      <p:sp>
        <p:nvSpPr>
          <p:cNvPr id="11" name="Rounded Rectangle 10"/>
          <p:cNvSpPr/>
          <p:nvPr/>
        </p:nvSpPr>
        <p:spPr>
          <a:xfrm>
            <a:off x="2871216" y="1371600"/>
            <a:ext cx="1170432" cy="4389120"/>
          </a:xfrm>
          <a:prstGeom prst="roundRect">
            <a:avLst/>
          </a:prstGeom>
          <a:solidFill>
            <a:srgbClr val="F0F4F8"/>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E67E22"/>
                </a:solidFill>
              </a:defRPr>
            </a:pPr>
            <a:r>
              <a:t>3. Leave Management</a:t>
            </a:r>
          </a:p>
          <a:p>
            <a:pPr>
              <a:spcAft>
                <a:spcPts val="400"/>
              </a:spcAft>
              <a:defRPr sz="800">
                <a:solidFill>
                  <a:srgbClr val="1E1E1E"/>
                </a:solidFill>
              </a:defRPr>
            </a:pPr>
            <a:r>
              <a:t>• Apply for Leave</a:t>
            </a:r>
          </a:p>
          <a:p>
            <a:pPr>
              <a:spcAft>
                <a:spcPts val="400"/>
              </a:spcAft>
              <a:defRPr sz="800">
                <a:solidFill>
                  <a:srgbClr val="1E1E1E"/>
                </a:solidFill>
              </a:defRPr>
            </a:pPr>
            <a:r>
              <a:t>• Approve / Reject</a:t>
            </a:r>
          </a:p>
          <a:p>
            <a:pPr>
              <a:spcAft>
                <a:spcPts val="400"/>
              </a:spcAft>
              <a:defRPr sz="800">
                <a:solidFill>
                  <a:srgbClr val="1E1E1E"/>
                </a:solidFill>
              </a:defRPr>
            </a:pPr>
            <a:r>
              <a:t>• Leave Balance</a:t>
            </a:r>
          </a:p>
          <a:p>
            <a:pPr>
              <a:spcAft>
                <a:spcPts val="400"/>
              </a:spcAft>
              <a:defRPr sz="800">
                <a:solidFill>
                  <a:srgbClr val="1E1E1E"/>
                </a:solidFill>
              </a:defRPr>
            </a:pPr>
            <a:r>
              <a:t>• Leave History</a:t>
            </a:r>
          </a:p>
        </p:txBody>
      </p:sp>
      <p:sp>
        <p:nvSpPr>
          <p:cNvPr id="12" name="Rounded Rectangle 11"/>
          <p:cNvSpPr/>
          <p:nvPr/>
        </p:nvSpPr>
        <p:spPr>
          <a:xfrm>
            <a:off x="4078224" y="1371600"/>
            <a:ext cx="1170432" cy="4389120"/>
          </a:xfrm>
          <a:prstGeom prst="roundRect">
            <a:avLst/>
          </a:prstGeom>
          <a:solidFill>
            <a:srgbClr val="F0F4F8"/>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8E44AD"/>
                </a:solidFill>
              </a:defRPr>
            </a:pPr>
            <a:r>
              <a:t>4. Employee Records</a:t>
            </a:r>
          </a:p>
          <a:p>
            <a:pPr>
              <a:spcAft>
                <a:spcPts val="400"/>
              </a:spcAft>
              <a:defRPr sz="800">
                <a:solidFill>
                  <a:srgbClr val="1E1E1E"/>
                </a:solidFill>
              </a:defRPr>
            </a:pPr>
            <a:r>
              <a:t>• Add/Update Employees</a:t>
            </a:r>
          </a:p>
          <a:p>
            <a:pPr>
              <a:spcAft>
                <a:spcPts val="400"/>
              </a:spcAft>
              <a:defRPr sz="800">
                <a:solidFill>
                  <a:srgbClr val="1E1E1E"/>
                </a:solidFill>
              </a:defRPr>
            </a:pPr>
            <a:r>
              <a:t>• Department Mgmt</a:t>
            </a:r>
          </a:p>
          <a:p>
            <a:pPr>
              <a:spcAft>
                <a:spcPts val="400"/>
              </a:spcAft>
              <a:defRPr sz="800">
                <a:solidFill>
                  <a:srgbClr val="1E1E1E"/>
                </a:solidFill>
              </a:defRPr>
            </a:pPr>
            <a:r>
              <a:t>• Designation Mgmt</a:t>
            </a:r>
          </a:p>
          <a:p>
            <a:pPr>
              <a:spcAft>
                <a:spcPts val="400"/>
              </a:spcAft>
              <a:defRPr sz="800">
                <a:solidFill>
                  <a:srgbClr val="1E1E1E"/>
                </a:solidFill>
              </a:defRPr>
            </a:pPr>
            <a:r>
              <a:t>• Employee Details View</a:t>
            </a:r>
          </a:p>
        </p:txBody>
      </p:sp>
      <p:sp>
        <p:nvSpPr>
          <p:cNvPr id="13" name="Rounded Rectangle 12"/>
          <p:cNvSpPr/>
          <p:nvPr/>
        </p:nvSpPr>
        <p:spPr>
          <a:xfrm>
            <a:off x="5285232" y="1371600"/>
            <a:ext cx="1170432" cy="4389120"/>
          </a:xfrm>
          <a:prstGeom prst="roundRect">
            <a:avLst/>
          </a:prstGeom>
          <a:solidFill>
            <a:srgbClr val="F0F4F8"/>
          </a:solidFill>
          <a:ln w="1905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16A085"/>
                </a:solidFill>
              </a:defRPr>
            </a:pPr>
            <a:r>
              <a:t>5. Reports</a:t>
            </a:r>
          </a:p>
          <a:p>
            <a:pPr>
              <a:spcAft>
                <a:spcPts val="400"/>
              </a:spcAft>
              <a:defRPr sz="800">
                <a:solidFill>
                  <a:srgbClr val="1E1E1E"/>
                </a:solidFill>
              </a:defRPr>
            </a:pPr>
            <a:r>
              <a:t>• Attendance Report</a:t>
            </a:r>
          </a:p>
          <a:p>
            <a:pPr>
              <a:spcAft>
                <a:spcPts val="400"/>
              </a:spcAft>
              <a:defRPr sz="800">
                <a:solidFill>
                  <a:srgbClr val="1E1E1E"/>
                </a:solidFill>
              </a:defRPr>
            </a:pPr>
            <a:r>
              <a:t>• Leave Report</a:t>
            </a:r>
          </a:p>
          <a:p>
            <a:pPr>
              <a:spcAft>
                <a:spcPts val="400"/>
              </a:spcAft>
              <a:defRPr sz="800">
                <a:solidFill>
                  <a:srgbClr val="1E1E1E"/>
                </a:solidFill>
              </a:defRPr>
            </a:pPr>
            <a:r>
              <a:t>• Employee Report</a:t>
            </a:r>
          </a:p>
          <a:p>
            <a:pPr>
              <a:spcAft>
                <a:spcPts val="400"/>
              </a:spcAft>
              <a:defRPr sz="800">
                <a:solidFill>
                  <a:srgbClr val="1E1E1E"/>
                </a:solidFill>
              </a:defRPr>
            </a:pPr>
            <a:r>
              <a:t>• Export (PDF/Excel)</a:t>
            </a:r>
          </a:p>
        </p:txBody>
      </p:sp>
      <p:sp>
        <p:nvSpPr>
          <p:cNvPr id="14" name="Rounded Rectangle 13"/>
          <p:cNvSpPr/>
          <p:nvPr/>
        </p:nvSpPr>
        <p:spPr>
          <a:xfrm>
            <a:off x="6492240" y="1371600"/>
            <a:ext cx="1170432" cy="4389120"/>
          </a:xfrm>
          <a:prstGeom prst="roundRect">
            <a:avLst/>
          </a:prstGeom>
          <a:solidFill>
            <a:srgbClr val="F0F4F8"/>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C0392B"/>
                </a:solidFill>
              </a:defRPr>
            </a:pPr>
            <a:r>
              <a:t>6. Document Storage</a:t>
            </a:r>
          </a:p>
          <a:p>
            <a:pPr>
              <a:spcAft>
                <a:spcPts val="400"/>
              </a:spcAft>
              <a:defRPr sz="800">
                <a:solidFill>
                  <a:srgbClr val="1E1E1E"/>
                </a:solidFill>
              </a:defRPr>
            </a:pPr>
            <a:r>
              <a:t>• Store Documents</a:t>
            </a:r>
          </a:p>
          <a:p>
            <a:pPr>
              <a:spcAft>
                <a:spcPts val="400"/>
              </a:spcAft>
              <a:defRPr sz="800">
                <a:solidFill>
                  <a:srgbClr val="1E1E1E"/>
                </a:solidFill>
              </a:defRPr>
            </a:pPr>
            <a:r>
              <a:t>• Access Files</a:t>
            </a:r>
          </a:p>
          <a:p>
            <a:pPr>
              <a:spcAft>
                <a:spcPts val="400"/>
              </a:spcAft>
              <a:defRPr sz="800">
                <a:solidFill>
                  <a:srgbClr val="1E1E1E"/>
                </a:solidFill>
              </a:defRPr>
            </a:pPr>
            <a:r>
              <a:t>• Secure Storage</a:t>
            </a:r>
          </a:p>
          <a:p>
            <a:pPr>
              <a:spcAft>
                <a:spcPts val="400"/>
              </a:spcAft>
              <a:defRPr sz="800">
                <a:solidFill>
                  <a:srgbClr val="1E1E1E"/>
                </a:solidFill>
              </a:defRPr>
            </a:pPr>
            <a:r>
              <a:t>• Manage Permissions</a:t>
            </a:r>
          </a:p>
        </p:txBody>
      </p:sp>
      <p:sp>
        <p:nvSpPr>
          <p:cNvPr id="15" name="Rounded Rectangle 14"/>
          <p:cNvSpPr/>
          <p:nvPr/>
        </p:nvSpPr>
        <p:spPr>
          <a:xfrm>
            <a:off x="7699248" y="1371600"/>
            <a:ext cx="1170432" cy="4389120"/>
          </a:xfrm>
          <a:prstGeom prst="roundRect">
            <a:avLst/>
          </a:prstGeom>
          <a:solidFill>
            <a:srgbClr val="F0F4F8"/>
          </a:solidFill>
          <a:ln w="19050">
            <a:solidFill>
              <a:srgbClr val="2C3E50"/>
            </a:solidFill>
          </a:ln>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800"/>
              </a:spcAft>
              <a:defRPr b="1" sz="900">
                <a:solidFill>
                  <a:srgbClr val="2C3E50"/>
                </a:solidFill>
              </a:defRPr>
            </a:pPr>
            <a:r>
              <a:t>7. Monitoring &amp; Security</a:t>
            </a:r>
          </a:p>
          <a:p>
            <a:pPr>
              <a:spcAft>
                <a:spcPts val="400"/>
              </a:spcAft>
              <a:defRPr sz="800">
                <a:solidFill>
                  <a:srgbClr val="1E1E1E"/>
                </a:solidFill>
              </a:defRPr>
            </a:pPr>
            <a:r>
              <a:t>• IAM Access Control</a:t>
            </a:r>
          </a:p>
          <a:p>
            <a:pPr>
              <a:spcAft>
                <a:spcPts val="400"/>
              </a:spcAft>
              <a:defRPr sz="800">
                <a:solidFill>
                  <a:srgbClr val="1E1E1E"/>
                </a:solidFill>
              </a:defRPr>
            </a:pPr>
            <a:r>
              <a:t>• VPC Network Security</a:t>
            </a:r>
          </a:p>
          <a:p>
            <a:pPr>
              <a:spcAft>
                <a:spcPts val="400"/>
              </a:spcAft>
              <a:defRPr sz="800">
                <a:solidFill>
                  <a:srgbClr val="1E1E1E"/>
                </a:solidFill>
              </a:defRPr>
            </a:pPr>
            <a:r>
              <a:t>• Load Balancer Monitor</a:t>
            </a:r>
          </a:p>
          <a:p>
            <a:pPr>
              <a:spcAft>
                <a:spcPts val="400"/>
              </a:spcAft>
              <a:defRPr sz="800">
                <a:solidFill>
                  <a:srgbClr val="1E1E1E"/>
                </a:solidFill>
              </a:defRPr>
            </a:pPr>
            <a:r>
              <a:t>• CloudWatch Logs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Results and Discussions</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9</a:t>
            </a:r>
          </a:p>
        </p:txBody>
      </p:sp>
      <p:sp>
        <p:nvSpPr>
          <p:cNvPr id="9" name="TextBox 8"/>
          <p:cNvSpPr txBox="1"/>
          <p:nvPr/>
        </p:nvSpPr>
        <p:spPr>
          <a:xfrm>
            <a:off x="548640" y="1371600"/>
            <a:ext cx="8046720" cy="4572000"/>
          </a:xfrm>
          <a:prstGeom prst="rect">
            <a:avLst/>
          </a:prstGeom>
          <a:noFill/>
        </p:spPr>
        <p:txBody>
          <a:bodyPr wrap="square">
            <a:spAutoFit/>
          </a:bodyPr>
          <a:lstStyle/>
          <a:p>
            <a:pPr>
              <a:lnSpc>
                <a:spcPct val="125000"/>
              </a:lnSpc>
              <a:spcAft>
                <a:spcPts val="1400"/>
              </a:spcAft>
              <a:defRPr sz="1500">
                <a:solidFill>
                  <a:srgbClr val="1E1E1E"/>
                </a:solidFill>
              </a:defRPr>
            </a:pPr>
            <a:r>
              <a:t>•  The system was successfully developed and deployed on AWS EC2 for easy access.</a:t>
            </a:r>
          </a:p>
          <a:p>
            <a:pPr>
              <a:lnSpc>
                <a:spcPct val="125000"/>
              </a:lnSpc>
              <a:spcAft>
                <a:spcPts val="1400"/>
              </a:spcAft>
              <a:defRPr sz="1500">
                <a:solidFill>
                  <a:srgbClr val="1E1E1E"/>
                </a:solidFill>
              </a:defRPr>
            </a:pPr>
            <a:r>
              <a:t>•  Amazon RDS securely stores employee and attendance information.</a:t>
            </a:r>
          </a:p>
          <a:p>
            <a:pPr>
              <a:lnSpc>
                <a:spcPct val="125000"/>
              </a:lnSpc>
              <a:spcAft>
                <a:spcPts val="1400"/>
              </a:spcAft>
              <a:defRPr sz="1500">
                <a:solidFill>
                  <a:srgbClr val="1E1E1E"/>
                </a:solidFill>
              </a:defRPr>
            </a:pPr>
            <a:r>
              <a:t>•  Amazon S3 provides reliable storage for documents and files.</a:t>
            </a:r>
          </a:p>
          <a:p>
            <a:pPr>
              <a:lnSpc>
                <a:spcPct val="125000"/>
              </a:lnSpc>
              <a:spcAft>
                <a:spcPts val="1400"/>
              </a:spcAft>
              <a:defRPr sz="1500">
                <a:solidFill>
                  <a:srgbClr val="1E1E1E"/>
                </a:solidFill>
              </a:defRPr>
            </a:pPr>
            <a:r>
              <a:t>•  IAM, VPC, ELB, and Auto Scaling improve security, availability, and scalability.</a:t>
            </a:r>
          </a:p>
          <a:p>
            <a:pPr>
              <a:lnSpc>
                <a:spcPct val="125000"/>
              </a:lnSpc>
              <a:spcAft>
                <a:spcPts val="1400"/>
              </a:spcAft>
              <a:defRPr sz="1500">
                <a:solidFill>
                  <a:srgbClr val="1E1E1E"/>
                </a:solidFill>
              </a:defRPr>
            </a:pPr>
            <a:r>
              <a:t>•  CloudWatch monitors performance, while the overall system reduces manual work and improves HR management efficiency.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Conclusion</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10</a:t>
            </a:r>
          </a:p>
        </p:txBody>
      </p:sp>
      <p:sp>
        <p:nvSpPr>
          <p:cNvPr id="9" name="TextBox 8"/>
          <p:cNvSpPr txBox="1"/>
          <p:nvPr/>
        </p:nvSpPr>
        <p:spPr>
          <a:xfrm>
            <a:off x="548640" y="1371600"/>
            <a:ext cx="8046720" cy="4572000"/>
          </a:xfrm>
          <a:prstGeom prst="rect">
            <a:avLst/>
          </a:prstGeom>
          <a:noFill/>
        </p:spPr>
        <p:txBody>
          <a:bodyPr wrap="square">
            <a:spAutoFit/>
          </a:bodyPr>
          <a:lstStyle/>
          <a:p>
            <a:pPr>
              <a:lnSpc>
                <a:spcPct val="125000"/>
              </a:lnSpc>
              <a:spcAft>
                <a:spcPts val="1400"/>
              </a:spcAft>
              <a:defRPr sz="1500">
                <a:solidFill>
                  <a:srgbClr val="1E1E1E"/>
                </a:solidFill>
              </a:defRPr>
            </a:pPr>
            <a:r>
              <a:t>•  The Employee Attendance &amp; HR Management System provides an efficient solution for managing employee activities.</a:t>
            </a:r>
          </a:p>
          <a:p>
            <a:pPr>
              <a:lnSpc>
                <a:spcPct val="125000"/>
              </a:lnSpc>
              <a:spcAft>
                <a:spcPts val="1400"/>
              </a:spcAft>
              <a:defRPr sz="1500">
                <a:solidFill>
                  <a:srgbClr val="1E1E1E"/>
                </a:solidFill>
              </a:defRPr>
            </a:pPr>
            <a:r>
              <a:t>•  AWS services enable secure data storage, reliable application deployment, and easy accessibility.</a:t>
            </a:r>
          </a:p>
          <a:p>
            <a:pPr>
              <a:lnSpc>
                <a:spcPct val="125000"/>
              </a:lnSpc>
              <a:spcAft>
                <a:spcPts val="1400"/>
              </a:spcAft>
              <a:defRPr sz="1500">
                <a:solidFill>
                  <a:srgbClr val="1E1E1E"/>
                </a:solidFill>
              </a:defRPr>
            </a:pPr>
            <a:r>
              <a:t>•  The system reduces manual work and improves attendance and HR management.</a:t>
            </a:r>
          </a:p>
          <a:p>
            <a:pPr>
              <a:lnSpc>
                <a:spcPct val="125000"/>
              </a:lnSpc>
              <a:spcAft>
                <a:spcPts val="1400"/>
              </a:spcAft>
              <a:defRPr sz="1500">
                <a:solidFill>
                  <a:srgbClr val="1E1E1E"/>
                </a:solidFill>
              </a:defRPr>
            </a:pPr>
            <a:r>
              <a:t>•  Security, scalability, and performance are improved using AWS services such as IAM, VPC, ELB, Auto Scaling, and CloudWatch.</a:t>
            </a:r>
          </a:p>
          <a:p>
            <a:pPr>
              <a:lnSpc>
                <a:spcPct val="125000"/>
              </a:lnSpc>
              <a:spcAft>
                <a:spcPts val="1400"/>
              </a:spcAft>
              <a:defRPr sz="1500">
                <a:solidFill>
                  <a:srgbClr val="1E1E1E"/>
                </a:solidFill>
              </a:defRPr>
            </a:pPr>
            <a:r>
              <a:t>•  Overall, the project provides a secure, reliable, scalable, and cloud-based HR management solution.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REFERENCES</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11</a:t>
            </a:r>
          </a:p>
        </p:txBody>
      </p:sp>
      <p:sp>
        <p:nvSpPr>
          <p:cNvPr id="9" name="TextBox 8"/>
          <p:cNvSpPr txBox="1"/>
          <p:nvPr/>
        </p:nvSpPr>
        <p:spPr>
          <a:xfrm>
            <a:off x="548640" y="1280160"/>
            <a:ext cx="8046720" cy="4754880"/>
          </a:xfrm>
          <a:prstGeom prst="rect">
            <a:avLst/>
          </a:prstGeom>
          <a:noFill/>
        </p:spPr>
        <p:txBody>
          <a:bodyPr wrap="square">
            <a:spAutoFit/>
          </a:bodyPr>
          <a:lstStyle/>
          <a:p>
            <a:pPr>
              <a:spcAft>
                <a:spcPts val="600"/>
              </a:spcAft>
              <a:defRPr sz="1100">
                <a:solidFill>
                  <a:srgbClr val="1E1E1E"/>
                </a:solidFill>
              </a:defRPr>
            </a:pPr>
            <a:r>
              <a:t>• 1]. Kavis, M. J. Architecting the Cloud: Design Decisions for Cloud Computing Service Models (SaaS, PaaS, and IaaS). Wiley (2014).</a:t>
            </a:r>
          </a:p>
          <a:p>
            <a:pPr>
              <a:spcAft>
                <a:spcPts val="600"/>
              </a:spcAft>
              <a:defRPr sz="1100">
                <a:solidFill>
                  <a:srgbClr val="1E1E1E"/>
                </a:solidFill>
              </a:defRPr>
            </a:pPr>
            <a:r>
              <a:t>• 2]. Erl, T., Puttini, R. &amp; Mahmood, Z. Cloud Computing: Concepts, Technology &amp; Architecture. Pearson (2013).</a:t>
            </a:r>
          </a:p>
          <a:p>
            <a:pPr>
              <a:spcAft>
                <a:spcPts val="600"/>
              </a:spcAft>
              <a:defRPr sz="1100">
                <a:solidFill>
                  <a:srgbClr val="1E1E1E"/>
                </a:solidFill>
              </a:defRPr>
            </a:pPr>
            <a:r>
              <a:t>• 3]. Sosinsky, B. Cloud Computing Bible. Wiley (2011).</a:t>
            </a:r>
          </a:p>
          <a:p>
            <a:pPr>
              <a:spcAft>
                <a:spcPts val="600"/>
              </a:spcAft>
              <a:defRPr sz="1100">
                <a:solidFill>
                  <a:srgbClr val="1E1E1E"/>
                </a:solidFill>
              </a:defRPr>
            </a:pPr>
            <a:r>
              <a:t>• 4]. Vacca, J. R. Cloud Computing Security: Foundations and Challenges. CRC Press (2017).</a:t>
            </a:r>
          </a:p>
          <a:p>
            <a:pPr>
              <a:spcAft>
                <a:spcPts val="600"/>
              </a:spcAft>
              <a:defRPr sz="1100">
                <a:solidFill>
                  <a:srgbClr val="1E1E1E"/>
                </a:solidFill>
              </a:defRPr>
            </a:pPr>
            <a:r>
              <a:t>• 5]. Kurose, J. F. &amp; Ross, K. W. Computer Networking: A Top-Down Approach. Pearson (2021).</a:t>
            </a:r>
          </a:p>
          <a:p>
            <a:pPr>
              <a:spcAft>
                <a:spcPts val="600"/>
              </a:spcAft>
              <a:defRPr sz="1100">
                <a:solidFill>
                  <a:srgbClr val="1E1E1E"/>
                </a:solidFill>
              </a:defRPr>
            </a:pPr>
            <a:r>
              <a:t>• 6]. Elmasri, R. &amp; Navathe, S. B. Fundamentals of Database Systems. Pearson (2016).</a:t>
            </a:r>
          </a:p>
          <a:p>
            <a:pPr>
              <a:spcAft>
                <a:spcPts val="600"/>
              </a:spcAft>
              <a:defRPr sz="1100">
                <a:solidFill>
                  <a:srgbClr val="1E1E1E"/>
                </a:solidFill>
              </a:defRPr>
            </a:pPr>
            <a:r>
              <a:t>• 7]. Sommerville, I. Software Engineering. Pearson (2015).</a:t>
            </a:r>
          </a:p>
          <a:p>
            <a:pPr>
              <a:spcAft>
                <a:spcPts val="600"/>
              </a:spcAft>
              <a:defRPr sz="1100">
                <a:solidFill>
                  <a:srgbClr val="1E1E1E"/>
                </a:solidFill>
              </a:defRPr>
            </a:pPr>
            <a:r>
              <a:t>• 8]. Bass, L., Clements, P. &amp; Kazman, R. Software Architecture in Practice. Addison-Wesley Professional (2021).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274320"/>
            <a:ext cx="8595360" cy="6309360"/>
          </a:xfrm>
          <a:prstGeom prst="rect">
            <a:avLst/>
          </a:prstGeom>
          <a:noFill/>
          <a:ln w="19050">
            <a:solidFill>
              <a:srgbClr val="10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8229600" cy="731520"/>
          </a:xfrm>
          <a:prstGeom prst="rect">
            <a:avLst/>
          </a:prstGeom>
          <a:noFill/>
        </p:spPr>
        <p:txBody>
          <a:bodyPr wrap="square">
            <a:spAutoFit/>
          </a:bodyPr>
          <a:lstStyle/>
          <a:p>
            <a:pPr algn="ctr">
              <a:defRPr b="1" sz="2400">
                <a:solidFill>
                  <a:srgbClr val="102C57"/>
                </a:solidFill>
              </a:defRPr>
            </a:pPr>
            <a:r>
              <a:t>THANK YOU</a:t>
            </a:r>
          </a:p>
        </p:txBody>
      </p:sp>
      <p:sp>
        <p:nvSpPr>
          <p:cNvPr id="4" name="Rectangle 3"/>
          <p:cNvSpPr/>
          <p:nvPr/>
        </p:nvSpPr>
        <p:spPr>
          <a:xfrm>
            <a:off x="365760" y="1143000"/>
            <a:ext cx="8412480" cy="18288"/>
          </a:xfrm>
          <a:prstGeom prst="rect">
            <a:avLst/>
          </a:prstGeom>
          <a:solidFill>
            <a:srgbClr val="102C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217920"/>
            <a:ext cx="841248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63640"/>
            <a:ext cx="2286000" cy="320040"/>
          </a:xfrm>
          <a:prstGeom prst="rect">
            <a:avLst/>
          </a:prstGeom>
          <a:noFill/>
        </p:spPr>
        <p:txBody>
          <a:bodyPr wrap="none">
            <a:spAutoFit/>
          </a:bodyPr>
          <a:lstStyle/>
          <a:p>
            <a:pPr>
              <a:defRPr sz="900">
                <a:solidFill>
                  <a:srgbClr val="C8C8C8"/>
                </a:solidFill>
              </a:defRPr>
            </a:pPr>
            <a:r>
              <a:t>20 September 2026</a:t>
            </a:r>
          </a:p>
        </p:txBody>
      </p:sp>
      <p:sp>
        <p:nvSpPr>
          <p:cNvPr id="7" name="TextBox 6"/>
          <p:cNvSpPr txBox="1"/>
          <p:nvPr/>
        </p:nvSpPr>
        <p:spPr>
          <a:xfrm>
            <a:off x="2926080" y="6263640"/>
            <a:ext cx="3291840" cy="320040"/>
          </a:xfrm>
          <a:prstGeom prst="rect">
            <a:avLst/>
          </a:prstGeom>
          <a:noFill/>
        </p:spPr>
        <p:txBody>
          <a:bodyPr wrap="none">
            <a:spAutoFit/>
          </a:bodyPr>
          <a:lstStyle/>
          <a:p>
            <a:pPr algn="ctr">
              <a:defRPr sz="900">
                <a:solidFill>
                  <a:srgbClr val="C8C8C8"/>
                </a:solidFill>
              </a:defRPr>
            </a:pPr>
            <a:r>
              <a:t>School of Computing - CSE</a:t>
            </a:r>
          </a:p>
        </p:txBody>
      </p:sp>
      <p:sp>
        <p:nvSpPr>
          <p:cNvPr id="8" name="TextBox 7"/>
          <p:cNvSpPr txBox="1"/>
          <p:nvPr/>
        </p:nvSpPr>
        <p:spPr>
          <a:xfrm>
            <a:off x="7589520" y="6263640"/>
            <a:ext cx="1097280" cy="320040"/>
          </a:xfrm>
          <a:prstGeom prst="rect">
            <a:avLst/>
          </a:prstGeom>
          <a:noFill/>
        </p:spPr>
        <p:txBody>
          <a:bodyPr wrap="none">
            <a:spAutoFit/>
          </a:bodyPr>
          <a:lstStyle/>
          <a:p>
            <a:pPr algn="r">
              <a:defRPr sz="900">
                <a:solidFill>
                  <a:srgbClr val="C8C8C8"/>
                </a:solidFill>
              </a:defRPr>
            </a:pPr>
            <a:r>
              <a:t>12</a:t>
            </a:r>
          </a:p>
        </p:txBody>
      </p:sp>
      <p:sp>
        <p:nvSpPr>
          <p:cNvPr id="9" name="TextBox 8"/>
          <p:cNvSpPr txBox="1"/>
          <p:nvPr/>
        </p:nvSpPr>
        <p:spPr>
          <a:xfrm>
            <a:off x="731520" y="2011680"/>
            <a:ext cx="7680960" cy="3200400"/>
          </a:xfrm>
          <a:prstGeom prst="rect">
            <a:avLst/>
          </a:prstGeom>
          <a:noFill/>
        </p:spPr>
        <p:txBody>
          <a:bodyPr wrap="square">
            <a:spAutoFit/>
          </a:bodyPr>
          <a:lstStyle/>
          <a:p>
            <a:pPr algn="ctr">
              <a:spcAft>
                <a:spcPts val="2000"/>
              </a:spcAft>
              <a:defRPr sz="2000" b="1">
                <a:solidFill>
                  <a:srgbClr val="102C57"/>
                </a:solidFill>
              </a:defRPr>
            </a:pPr>
            <a:r>
              <a:t>We thank God, Our Department, Guide, Panel Members, Supportive Professors and all Technical and non Technical staff who helped us in our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